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706100" cy="7569200"/>
  <p:notesSz cx="107061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957" y="2346452"/>
            <a:ext cx="9100185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915" y="4238752"/>
            <a:ext cx="749427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5305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13641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61232" y="417564"/>
            <a:ext cx="1485900" cy="5586095"/>
          </a:xfrm>
          <a:custGeom>
            <a:avLst/>
            <a:gdLst/>
            <a:ahLst/>
            <a:cxnLst/>
            <a:rect l="l" t="t" r="r" b="b"/>
            <a:pathLst>
              <a:path w="1485900" h="5586095">
                <a:moveTo>
                  <a:pt x="1485893" y="5585686"/>
                </a:moveTo>
                <a:lnTo>
                  <a:pt x="0" y="5585686"/>
                </a:lnTo>
                <a:lnTo>
                  <a:pt x="0" y="0"/>
                </a:lnTo>
                <a:lnTo>
                  <a:pt x="1485893" y="0"/>
                </a:lnTo>
                <a:lnTo>
                  <a:pt x="1485893" y="558568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693" y="1125952"/>
            <a:ext cx="4250332" cy="41689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1166665"/>
            <a:ext cx="1628480" cy="8549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64" y="417564"/>
            <a:ext cx="9929562" cy="55856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6696" y="1117810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997" y="583996"/>
            <a:ext cx="9538105" cy="851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596" y="1964620"/>
            <a:ext cx="9652000" cy="152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40074" y="7039356"/>
            <a:ext cx="342595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5305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08392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987" y="607987"/>
            <a:ext cx="9739630" cy="5478780"/>
            <a:chOff x="607987" y="607987"/>
            <a:chExt cx="9739630" cy="547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987" y="607987"/>
              <a:ext cx="9739436" cy="54786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7987" y="607987"/>
              <a:ext cx="9739630" cy="5478780"/>
            </a:xfrm>
            <a:custGeom>
              <a:avLst/>
              <a:gdLst/>
              <a:ahLst/>
              <a:cxnLst/>
              <a:rect l="l" t="t" r="r" b="b"/>
              <a:pathLst>
                <a:path w="9739630" h="5478780">
                  <a:moveTo>
                    <a:pt x="9739436" y="5478612"/>
                  </a:moveTo>
                  <a:lnTo>
                    <a:pt x="0" y="5478612"/>
                  </a:lnTo>
                  <a:lnTo>
                    <a:pt x="0" y="0"/>
                  </a:lnTo>
                  <a:lnTo>
                    <a:pt x="9739436" y="0"/>
                  </a:lnTo>
                  <a:lnTo>
                    <a:pt x="9739436" y="5478612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49382" y="2312344"/>
            <a:ext cx="3069590" cy="619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00">
                <a:solidFill>
                  <a:srgbClr val="FFFFFF"/>
                </a:solidFill>
              </a:rPr>
              <a:t>Electro</a:t>
            </a:r>
            <a:r>
              <a:rPr dirty="0" sz="3900" spc="370">
                <a:solidFill>
                  <a:srgbClr val="FFFFFF"/>
                </a:solidFill>
              </a:rPr>
              <a:t> </a:t>
            </a:r>
            <a:r>
              <a:rPr dirty="0" sz="3900" spc="-20">
                <a:solidFill>
                  <a:srgbClr val="FFFFFF"/>
                </a:solidFill>
              </a:rPr>
              <a:t>Spark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1629889" y="4216282"/>
            <a:ext cx="7308215" cy="87249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Venture</a:t>
            </a:r>
            <a:r>
              <a:rPr dirty="0" sz="20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Viability</a:t>
            </a:r>
            <a:r>
              <a:rPr dirty="0" sz="20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Sri</a:t>
            </a:r>
            <a:r>
              <a:rPr dirty="0" sz="20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imes New Roman"/>
                <a:cs typeface="Times New Roman"/>
              </a:rPr>
              <a:t>Ramakrishna</a:t>
            </a:r>
            <a:r>
              <a:rPr dirty="0" sz="20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sz="20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0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Technology,</a:t>
            </a:r>
            <a:r>
              <a:rPr dirty="0" sz="20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imes New Roman"/>
                <a:cs typeface="Times New Roman"/>
              </a:rPr>
              <a:t>Coimbatore,</a:t>
            </a:r>
            <a:r>
              <a:rPr dirty="0" sz="20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Tamil</a:t>
            </a:r>
            <a:r>
              <a:rPr dirty="0" sz="20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Nadu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17" y="639932"/>
            <a:ext cx="798631" cy="415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56933" y="417564"/>
            <a:ext cx="3790315" cy="5586095"/>
            <a:chOff x="6556933" y="417564"/>
            <a:chExt cx="3790315" cy="5586095"/>
          </a:xfrm>
        </p:grpSpPr>
        <p:sp>
          <p:nvSpPr>
            <p:cNvPr id="3" name="object 3"/>
            <p:cNvSpPr/>
            <p:nvPr/>
          </p:nvSpPr>
          <p:spPr>
            <a:xfrm>
              <a:off x="8861233" y="417564"/>
              <a:ext cx="1485900" cy="5586095"/>
            </a:xfrm>
            <a:custGeom>
              <a:avLst/>
              <a:gdLst/>
              <a:ahLst/>
              <a:cxnLst/>
              <a:rect l="l" t="t" r="r" b="b"/>
              <a:pathLst>
                <a:path w="1485900" h="5586095">
                  <a:moveTo>
                    <a:pt x="1485893" y="5585686"/>
                  </a:moveTo>
                  <a:lnTo>
                    <a:pt x="0" y="5585686"/>
                  </a:lnTo>
                  <a:lnTo>
                    <a:pt x="0" y="0"/>
                  </a:lnTo>
                  <a:lnTo>
                    <a:pt x="1485893" y="0"/>
                  </a:lnTo>
                  <a:lnTo>
                    <a:pt x="1485893" y="558568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933" y="1125952"/>
              <a:ext cx="3436092" cy="416890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0281" y="1968205"/>
            <a:ext cx="3196590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BF0000"/>
                </a:solidFill>
              </a:rPr>
              <a:t>Electro</a:t>
            </a:r>
            <a:r>
              <a:rPr dirty="0" sz="4100" spc="175">
                <a:solidFill>
                  <a:srgbClr val="BF0000"/>
                </a:solidFill>
              </a:rPr>
              <a:t> </a:t>
            </a:r>
            <a:r>
              <a:rPr dirty="0" sz="4100" spc="-20">
                <a:solidFill>
                  <a:srgbClr val="BF0000"/>
                </a:solidFill>
              </a:rPr>
              <a:t>Spark</a:t>
            </a:r>
            <a:endParaRPr sz="4100"/>
          </a:p>
        </p:txBody>
      </p:sp>
      <p:sp>
        <p:nvSpPr>
          <p:cNvPr id="7" name="object 7"/>
          <p:cNvSpPr txBox="1"/>
          <p:nvPr/>
        </p:nvSpPr>
        <p:spPr>
          <a:xfrm>
            <a:off x="600281" y="3759532"/>
            <a:ext cx="5774690" cy="5518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0"/>
              </a:spcBef>
            </a:pP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build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legal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chatbot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deliver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basic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legal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help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in </a:t>
            </a:r>
            <a:r>
              <a:rPr dirty="0" sz="1800">
                <a:latin typeface="Times New Roman"/>
                <a:cs typeface="Times New Roman"/>
              </a:rPr>
              <a:t>regional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Indian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languages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WhatsApp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281" y="5070459"/>
            <a:ext cx="5575300" cy="5518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0"/>
              </a:spcBef>
            </a:pPr>
            <a:r>
              <a:rPr dirty="0" sz="1800" b="1">
                <a:latin typeface="Times New Roman"/>
                <a:cs typeface="Times New Roman"/>
              </a:rPr>
              <a:t>Sri</a:t>
            </a:r>
            <a:r>
              <a:rPr dirty="0" sz="1800" spc="2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Ramakrishna</a:t>
            </a:r>
            <a:r>
              <a:rPr dirty="0" sz="1800" spc="2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institute</a:t>
            </a:r>
            <a:r>
              <a:rPr dirty="0" sz="1800" spc="2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1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Technology,</a:t>
            </a:r>
            <a:r>
              <a:rPr dirty="0" sz="1800" spc="2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Coimbatore, </a:t>
            </a:r>
            <a:r>
              <a:rPr dirty="0" sz="1800" b="1">
                <a:latin typeface="Times New Roman"/>
                <a:cs typeface="Times New Roman"/>
              </a:rPr>
              <a:t>Tamil</a:t>
            </a:r>
            <a:r>
              <a:rPr dirty="0" sz="1800" spc="3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Nadu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4684" y="2168180"/>
            <a:ext cx="3664585" cy="203581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73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3450" spc="-10" b="1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endParaRPr sz="3450">
              <a:latin typeface="Times New Roman"/>
              <a:cs typeface="Times New Roman"/>
            </a:endParaRPr>
          </a:p>
          <a:p>
            <a:pPr algn="ctr" marL="253365" marR="251460" indent="-635">
              <a:lnSpc>
                <a:spcPts val="1860"/>
              </a:lnSpc>
              <a:spcBef>
                <a:spcPts val="1025"/>
              </a:spcBef>
            </a:pP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70%</a:t>
            </a:r>
            <a:r>
              <a:rPr dirty="0" sz="165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5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Indians</a:t>
            </a:r>
            <a:r>
              <a:rPr dirty="0" sz="165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lack</a:t>
            </a:r>
            <a:r>
              <a:rPr dirty="0" sz="165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65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imes New Roman"/>
                <a:cs typeface="Times New Roman"/>
              </a:rPr>
              <a:t>aid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access.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lawyer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imes New Roman"/>
                <a:cs typeface="Times New Roman"/>
              </a:rPr>
              <a:t>per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1,000</a:t>
            </a:r>
            <a:r>
              <a:rPr dirty="0" sz="165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7564" y="5840402"/>
            <a:ext cx="9930130" cy="163195"/>
            <a:chOff x="417564" y="5840402"/>
            <a:chExt cx="9930130" cy="163195"/>
          </a:xfrm>
        </p:grpSpPr>
        <p:sp>
          <p:nvSpPr>
            <p:cNvPr id="4" name="object 4"/>
            <p:cNvSpPr/>
            <p:nvPr/>
          </p:nvSpPr>
          <p:spPr>
            <a:xfrm>
              <a:off x="417564" y="5840402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7564" y="5921826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75597" y="5840412"/>
              <a:ext cx="1171575" cy="163195"/>
            </a:xfrm>
            <a:custGeom>
              <a:avLst/>
              <a:gdLst/>
              <a:ahLst/>
              <a:cxnLst/>
              <a:rect l="l" t="t" r="r" b="b"/>
              <a:pathLst>
                <a:path w="1171575" h="163195">
                  <a:moveTo>
                    <a:pt x="1171524" y="0"/>
                  </a:moveTo>
                  <a:lnTo>
                    <a:pt x="1130020" y="0"/>
                  </a:lnTo>
                  <a:lnTo>
                    <a:pt x="182321" y="0"/>
                  </a:lnTo>
                  <a:lnTo>
                    <a:pt x="136639" y="0"/>
                  </a:lnTo>
                  <a:lnTo>
                    <a:pt x="0" y="162839"/>
                  </a:lnTo>
                  <a:lnTo>
                    <a:pt x="182321" y="162839"/>
                  </a:lnTo>
                  <a:lnTo>
                    <a:pt x="993368" y="162839"/>
                  </a:lnTo>
                  <a:lnTo>
                    <a:pt x="1171524" y="162839"/>
                  </a:lnTo>
                  <a:lnTo>
                    <a:pt x="1171524" y="0"/>
                  </a:lnTo>
                  <a:close/>
                </a:path>
              </a:pathLst>
            </a:custGeom>
            <a:solidFill>
              <a:srgbClr val="C131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17564" y="5819561"/>
            <a:ext cx="993013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64515">
              <a:lnSpc>
                <a:spcPct val="100000"/>
              </a:lnSpc>
              <a:spcBef>
                <a:spcPts val="125"/>
              </a:spcBef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  <a:p>
            <a:pPr marL="260350" marR="649605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industries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experience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unexpected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failures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electrical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equipment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real-time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monitoring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early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fault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dirty="0" sz="1400" spc="4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981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sz="1800">
              <a:latin typeface="Times New Roman"/>
              <a:cs typeface="Times New Roman"/>
            </a:endParaRPr>
          </a:p>
          <a:p>
            <a:pPr marL="260350" marR="299085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failures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cause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loss,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production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delays,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maintenance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costs,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financial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losses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industries,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engineers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5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operators</a:t>
            </a:r>
            <a:r>
              <a:rPr dirty="0" sz="1400" spc="4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struggl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6933" y="1761060"/>
            <a:ext cx="3598940" cy="38920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Problem</a:t>
            </a:r>
            <a:r>
              <a:rPr dirty="0" spc="180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0281"/>
            <a:ext cx="4351020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180"/>
              <a:t> </a:t>
            </a:r>
            <a:r>
              <a:rPr dirty="0" spc="-10"/>
              <a:t>Statement/Industry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253" y="1427221"/>
            <a:ext cx="5358130" cy="2288540"/>
          </a:xfrm>
          <a:prstGeom prst="rect">
            <a:avLst/>
          </a:prstGeom>
          <a:solidFill>
            <a:srgbClr val="BE2025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3017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1400" spc="2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dirty="0" sz="1400" spc="3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Solved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30175" marR="516255">
              <a:lnSpc>
                <a:spcPts val="154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rural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struggle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basic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barriers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complex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legal procedures."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5231" y="1427221"/>
            <a:ext cx="3566795" cy="22885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Supporting</a:t>
            </a:r>
            <a:r>
              <a:rPr dirty="0" sz="1400" spc="49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 marR="264795">
              <a:lnSpc>
                <a:spcPts val="154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70%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Indians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lack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legal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aid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 </a:t>
            </a:r>
            <a:r>
              <a:rPr dirty="0" sz="1400">
                <a:latin typeface="Times New Roman"/>
                <a:cs typeface="Times New Roman"/>
              </a:rPr>
              <a:t>India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lawyer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1,000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people</a:t>
            </a:r>
            <a:endParaRPr sz="1400">
              <a:latin typeface="Times New Roman"/>
              <a:cs typeface="Times New Roman"/>
            </a:endParaRPr>
          </a:p>
          <a:p>
            <a:pPr marL="146050" marR="452755">
              <a:lnSpc>
                <a:spcPts val="1150"/>
              </a:lnSpc>
              <a:spcBef>
                <a:spcPts val="1525"/>
              </a:spcBef>
            </a:pPr>
            <a:r>
              <a:rPr dirty="0" sz="1000" b="1">
                <a:latin typeface="Times New Roman"/>
                <a:cs typeface="Times New Roman"/>
              </a:rPr>
              <a:t>Source</a:t>
            </a:r>
            <a:r>
              <a:rPr dirty="0" sz="1000">
                <a:latin typeface="Times New Roman"/>
                <a:cs typeface="Times New Roman"/>
              </a:rPr>
              <a:t>: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NALSA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Report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2023,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Bar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Council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India 2022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7253" y="3869941"/>
            <a:ext cx="684530" cy="684530"/>
            <a:chOff x="857253" y="3869941"/>
            <a:chExt cx="684530" cy="684530"/>
          </a:xfrm>
        </p:grpSpPr>
        <p:sp>
          <p:nvSpPr>
            <p:cNvPr id="7" name="object 7"/>
            <p:cNvSpPr/>
            <p:nvPr/>
          </p:nvSpPr>
          <p:spPr>
            <a:xfrm>
              <a:off x="857250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683958" y="341985"/>
                  </a:moveTo>
                  <a:lnTo>
                    <a:pt x="681393" y="300126"/>
                  </a:lnTo>
                  <a:lnTo>
                    <a:pt x="673709" y="258889"/>
                  </a:lnTo>
                  <a:lnTo>
                    <a:pt x="661047" y="218909"/>
                  </a:lnTo>
                  <a:lnTo>
                    <a:pt x="643572" y="180771"/>
                  </a:lnTo>
                  <a:lnTo>
                    <a:pt x="621576" y="145072"/>
                  </a:lnTo>
                  <a:lnTo>
                    <a:pt x="595363" y="112318"/>
                  </a:lnTo>
                  <a:lnTo>
                    <a:pt x="565353" y="83032"/>
                  </a:lnTo>
                  <a:lnTo>
                    <a:pt x="531977" y="57632"/>
                  </a:lnTo>
                  <a:lnTo>
                    <a:pt x="495731" y="36512"/>
                  </a:lnTo>
                  <a:lnTo>
                    <a:pt x="457187" y="19989"/>
                  </a:lnTo>
                  <a:lnTo>
                    <a:pt x="416902" y="8318"/>
                  </a:lnTo>
                  <a:lnTo>
                    <a:pt x="375500" y="1651"/>
                  </a:lnTo>
                  <a:lnTo>
                    <a:pt x="341972" y="0"/>
                  </a:lnTo>
                  <a:lnTo>
                    <a:pt x="338518" y="50"/>
                  </a:lnTo>
                  <a:lnTo>
                    <a:pt x="337908" y="0"/>
                  </a:lnTo>
                  <a:lnTo>
                    <a:pt x="337007" y="63"/>
                  </a:lnTo>
                  <a:lnTo>
                    <a:pt x="333578" y="101"/>
                  </a:lnTo>
                  <a:lnTo>
                    <a:pt x="325196" y="419"/>
                  </a:lnTo>
                  <a:lnTo>
                    <a:pt x="316826" y="927"/>
                  </a:lnTo>
                  <a:lnTo>
                    <a:pt x="308457" y="1651"/>
                  </a:lnTo>
                  <a:lnTo>
                    <a:pt x="300901" y="2501"/>
                  </a:lnTo>
                  <a:lnTo>
                    <a:pt x="292049" y="3086"/>
                  </a:lnTo>
                  <a:lnTo>
                    <a:pt x="248081" y="12077"/>
                  </a:lnTo>
                  <a:lnTo>
                    <a:pt x="206375" y="26555"/>
                  </a:lnTo>
                  <a:lnTo>
                    <a:pt x="167360" y="46139"/>
                  </a:lnTo>
                  <a:lnTo>
                    <a:pt x="131419" y="70408"/>
                  </a:lnTo>
                  <a:lnTo>
                    <a:pt x="98971" y="98971"/>
                  </a:lnTo>
                  <a:lnTo>
                    <a:pt x="70408" y="131432"/>
                  </a:lnTo>
                  <a:lnTo>
                    <a:pt x="46126" y="167360"/>
                  </a:lnTo>
                  <a:lnTo>
                    <a:pt x="26555" y="206387"/>
                  </a:lnTo>
                  <a:lnTo>
                    <a:pt x="12065" y="248081"/>
                  </a:lnTo>
                  <a:lnTo>
                    <a:pt x="3086" y="292061"/>
                  </a:lnTo>
                  <a:lnTo>
                    <a:pt x="2501" y="300634"/>
                  </a:lnTo>
                  <a:lnTo>
                    <a:pt x="1638" y="308470"/>
                  </a:lnTo>
                  <a:lnTo>
                    <a:pt x="927" y="316826"/>
                  </a:lnTo>
                  <a:lnTo>
                    <a:pt x="406" y="325208"/>
                  </a:lnTo>
                  <a:lnTo>
                    <a:pt x="101" y="333590"/>
                  </a:lnTo>
                  <a:lnTo>
                    <a:pt x="50" y="337019"/>
                  </a:lnTo>
                  <a:lnTo>
                    <a:pt x="0" y="337908"/>
                  </a:lnTo>
                  <a:lnTo>
                    <a:pt x="38" y="338531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695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16" y="630910"/>
                  </a:lnTo>
                  <a:lnTo>
                    <a:pt x="195757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72" y="683971"/>
                  </a:lnTo>
                  <a:lnTo>
                    <a:pt x="350367" y="683856"/>
                  </a:lnTo>
                  <a:lnTo>
                    <a:pt x="392163" y="680262"/>
                  </a:lnTo>
                  <a:lnTo>
                    <a:pt x="433184" y="671576"/>
                  </a:lnTo>
                  <a:lnTo>
                    <a:pt x="472846" y="657936"/>
                  </a:lnTo>
                  <a:lnTo>
                    <a:pt x="510540" y="639533"/>
                  </a:lnTo>
                  <a:lnTo>
                    <a:pt x="545693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897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856" y="350380"/>
                  </a:lnTo>
                  <a:lnTo>
                    <a:pt x="683958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18832" y="4044606"/>
              <a:ext cx="353060" cy="334645"/>
            </a:xfrm>
            <a:custGeom>
              <a:avLst/>
              <a:gdLst/>
              <a:ahLst/>
              <a:cxnLst/>
              <a:rect l="l" t="t" r="r" b="b"/>
              <a:pathLst>
                <a:path w="353059" h="334645">
                  <a:moveTo>
                    <a:pt x="159181" y="229209"/>
                  </a:moveTo>
                  <a:lnTo>
                    <a:pt x="128485" y="196634"/>
                  </a:lnTo>
                  <a:lnTo>
                    <a:pt x="27635" y="294754"/>
                  </a:lnTo>
                  <a:lnTo>
                    <a:pt x="24447" y="298005"/>
                  </a:lnTo>
                  <a:lnTo>
                    <a:pt x="24447" y="303707"/>
                  </a:lnTo>
                  <a:lnTo>
                    <a:pt x="54737" y="334645"/>
                  </a:lnTo>
                  <a:lnTo>
                    <a:pt x="60325" y="334645"/>
                  </a:lnTo>
                  <a:lnTo>
                    <a:pt x="63512" y="331393"/>
                  </a:lnTo>
                  <a:lnTo>
                    <a:pt x="159181" y="229209"/>
                  </a:lnTo>
                  <a:close/>
                </a:path>
                <a:path w="353059" h="334645">
                  <a:moveTo>
                    <a:pt x="317042" y="298411"/>
                  </a:moveTo>
                  <a:lnTo>
                    <a:pt x="313855" y="295160"/>
                  </a:lnTo>
                  <a:lnTo>
                    <a:pt x="115341" y="101371"/>
                  </a:lnTo>
                  <a:lnTo>
                    <a:pt x="152806" y="62687"/>
                  </a:lnTo>
                  <a:lnTo>
                    <a:pt x="152806" y="56997"/>
                  </a:lnTo>
                  <a:lnTo>
                    <a:pt x="107759" y="10579"/>
                  </a:lnTo>
                  <a:lnTo>
                    <a:pt x="102184" y="10579"/>
                  </a:lnTo>
                  <a:lnTo>
                    <a:pt x="63512" y="50076"/>
                  </a:lnTo>
                  <a:lnTo>
                    <a:pt x="57124" y="43967"/>
                  </a:lnTo>
                  <a:lnTo>
                    <a:pt x="53949" y="40703"/>
                  </a:lnTo>
                  <a:lnTo>
                    <a:pt x="48361" y="40703"/>
                  </a:lnTo>
                  <a:lnTo>
                    <a:pt x="29629" y="59842"/>
                  </a:lnTo>
                  <a:lnTo>
                    <a:pt x="29629" y="65544"/>
                  </a:lnTo>
                  <a:lnTo>
                    <a:pt x="32816" y="68795"/>
                  </a:lnTo>
                  <a:lnTo>
                    <a:pt x="38798" y="75311"/>
                  </a:lnTo>
                  <a:lnTo>
                    <a:pt x="25641" y="88747"/>
                  </a:lnTo>
                  <a:lnTo>
                    <a:pt x="24041" y="90779"/>
                  </a:lnTo>
                  <a:lnTo>
                    <a:pt x="23253" y="93230"/>
                  </a:lnTo>
                  <a:lnTo>
                    <a:pt x="1320" y="151853"/>
                  </a:lnTo>
                  <a:lnTo>
                    <a:pt x="0" y="155168"/>
                  </a:lnTo>
                  <a:lnTo>
                    <a:pt x="673" y="158013"/>
                  </a:lnTo>
                  <a:lnTo>
                    <a:pt x="3327" y="160401"/>
                  </a:lnTo>
                  <a:lnTo>
                    <a:pt x="5715" y="162839"/>
                  </a:lnTo>
                  <a:lnTo>
                    <a:pt x="8902" y="163652"/>
                  </a:lnTo>
                  <a:lnTo>
                    <a:pt x="12090" y="162839"/>
                  </a:lnTo>
                  <a:lnTo>
                    <a:pt x="74282" y="142074"/>
                  </a:lnTo>
                  <a:lnTo>
                    <a:pt x="76669" y="140855"/>
                  </a:lnTo>
                  <a:lnTo>
                    <a:pt x="88633" y="128651"/>
                  </a:lnTo>
                  <a:lnTo>
                    <a:pt x="278371" y="331393"/>
                  </a:lnTo>
                  <a:lnTo>
                    <a:pt x="281571" y="334645"/>
                  </a:lnTo>
                  <a:lnTo>
                    <a:pt x="287147" y="334645"/>
                  </a:lnTo>
                  <a:lnTo>
                    <a:pt x="317042" y="304114"/>
                  </a:lnTo>
                  <a:lnTo>
                    <a:pt x="317042" y="298411"/>
                  </a:lnTo>
                  <a:close/>
                </a:path>
                <a:path w="353059" h="334645">
                  <a:moveTo>
                    <a:pt x="352526" y="122948"/>
                  </a:moveTo>
                  <a:lnTo>
                    <a:pt x="350126" y="119684"/>
                  </a:lnTo>
                  <a:lnTo>
                    <a:pt x="346570" y="114401"/>
                  </a:lnTo>
                  <a:lnTo>
                    <a:pt x="309079" y="58623"/>
                  </a:lnTo>
                  <a:lnTo>
                    <a:pt x="309079" y="58216"/>
                  </a:lnTo>
                  <a:lnTo>
                    <a:pt x="295922" y="44780"/>
                  </a:lnTo>
                  <a:lnTo>
                    <a:pt x="295922" y="44373"/>
                  </a:lnTo>
                  <a:lnTo>
                    <a:pt x="295516" y="43967"/>
                  </a:lnTo>
                  <a:lnTo>
                    <a:pt x="295109" y="43967"/>
                  </a:lnTo>
                  <a:lnTo>
                    <a:pt x="234124" y="2438"/>
                  </a:lnTo>
                  <a:lnTo>
                    <a:pt x="230936" y="0"/>
                  </a:lnTo>
                  <a:lnTo>
                    <a:pt x="226161" y="406"/>
                  </a:lnTo>
                  <a:lnTo>
                    <a:pt x="223367" y="3251"/>
                  </a:lnTo>
                  <a:lnTo>
                    <a:pt x="187490" y="39484"/>
                  </a:lnTo>
                  <a:lnTo>
                    <a:pt x="185889" y="41516"/>
                  </a:lnTo>
                  <a:lnTo>
                    <a:pt x="185102" y="43967"/>
                  </a:lnTo>
                  <a:lnTo>
                    <a:pt x="185102" y="46405"/>
                  </a:lnTo>
                  <a:lnTo>
                    <a:pt x="185496" y="48907"/>
                  </a:lnTo>
                  <a:lnTo>
                    <a:pt x="186690" y="50952"/>
                  </a:lnTo>
                  <a:lnTo>
                    <a:pt x="188683" y="52514"/>
                  </a:lnTo>
                  <a:lnTo>
                    <a:pt x="240499" y="87528"/>
                  </a:lnTo>
                  <a:lnTo>
                    <a:pt x="183095" y="143306"/>
                  </a:lnTo>
                  <a:lnTo>
                    <a:pt x="212598" y="172212"/>
                  </a:lnTo>
                  <a:lnTo>
                    <a:pt x="266814" y="114401"/>
                  </a:lnTo>
                  <a:lnTo>
                    <a:pt x="300304" y="165696"/>
                  </a:lnTo>
                  <a:lnTo>
                    <a:pt x="301891" y="167728"/>
                  </a:lnTo>
                  <a:lnTo>
                    <a:pt x="304292" y="168948"/>
                  </a:lnTo>
                  <a:lnTo>
                    <a:pt x="309067" y="169760"/>
                  </a:lnTo>
                  <a:lnTo>
                    <a:pt x="311861" y="168541"/>
                  </a:lnTo>
                  <a:lnTo>
                    <a:pt x="352132" y="127825"/>
                  </a:lnTo>
                  <a:lnTo>
                    <a:pt x="352526" y="122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26224" y="3832814"/>
            <a:ext cx="1405255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Area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Services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78084" y="3869941"/>
            <a:ext cx="684530" cy="684530"/>
            <a:chOff x="3878084" y="3869941"/>
            <a:chExt cx="684530" cy="684530"/>
          </a:xfrm>
        </p:grpSpPr>
        <p:sp>
          <p:nvSpPr>
            <p:cNvPr id="11" name="object 11"/>
            <p:cNvSpPr/>
            <p:nvPr/>
          </p:nvSpPr>
          <p:spPr>
            <a:xfrm>
              <a:off x="3878072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71" y="341985"/>
                  </a:moveTo>
                  <a:lnTo>
                    <a:pt x="681393" y="300126"/>
                  </a:lnTo>
                  <a:lnTo>
                    <a:pt x="673722" y="258889"/>
                  </a:lnTo>
                  <a:lnTo>
                    <a:pt x="661047" y="218909"/>
                  </a:lnTo>
                  <a:lnTo>
                    <a:pt x="643585" y="180771"/>
                  </a:lnTo>
                  <a:lnTo>
                    <a:pt x="621588" y="145072"/>
                  </a:lnTo>
                  <a:lnTo>
                    <a:pt x="595376" y="112318"/>
                  </a:lnTo>
                  <a:lnTo>
                    <a:pt x="565365" y="83032"/>
                  </a:lnTo>
                  <a:lnTo>
                    <a:pt x="531977" y="57632"/>
                  </a:lnTo>
                  <a:lnTo>
                    <a:pt x="495744" y="36512"/>
                  </a:lnTo>
                  <a:lnTo>
                    <a:pt x="457200" y="19989"/>
                  </a:lnTo>
                  <a:lnTo>
                    <a:pt x="416915" y="8318"/>
                  </a:lnTo>
                  <a:lnTo>
                    <a:pt x="375500" y="1651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84" y="94310"/>
                  </a:lnTo>
                  <a:lnTo>
                    <a:pt x="77635" y="125031"/>
                  </a:lnTo>
                  <a:lnTo>
                    <a:pt x="53060" y="159029"/>
                  </a:lnTo>
                  <a:lnTo>
                    <a:pt x="32842" y="195770"/>
                  </a:lnTo>
                  <a:lnTo>
                    <a:pt x="17272" y="234708"/>
                  </a:lnTo>
                  <a:lnTo>
                    <a:pt x="6578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14" y="350380"/>
                  </a:lnTo>
                  <a:lnTo>
                    <a:pt x="3708" y="392163"/>
                  </a:lnTo>
                  <a:lnTo>
                    <a:pt x="12395" y="433197"/>
                  </a:lnTo>
                  <a:lnTo>
                    <a:pt x="26035" y="472859"/>
                  </a:lnTo>
                  <a:lnTo>
                    <a:pt x="44437" y="510552"/>
                  </a:lnTo>
                  <a:lnTo>
                    <a:pt x="67310" y="545706"/>
                  </a:lnTo>
                  <a:lnTo>
                    <a:pt x="94310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72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45363" y="683933"/>
                  </a:lnTo>
                  <a:lnTo>
                    <a:pt x="346062" y="683971"/>
                  </a:lnTo>
                  <a:lnTo>
                    <a:pt x="347091" y="683907"/>
                  </a:lnTo>
                  <a:lnTo>
                    <a:pt x="350380" y="683856"/>
                  </a:lnTo>
                  <a:lnTo>
                    <a:pt x="358762" y="683552"/>
                  </a:lnTo>
                  <a:lnTo>
                    <a:pt x="367144" y="683044"/>
                  </a:lnTo>
                  <a:lnTo>
                    <a:pt x="375500" y="682320"/>
                  </a:lnTo>
                  <a:lnTo>
                    <a:pt x="383070" y="681482"/>
                  </a:lnTo>
                  <a:lnTo>
                    <a:pt x="391909" y="680885"/>
                  </a:lnTo>
                  <a:lnTo>
                    <a:pt x="435889" y="671893"/>
                  </a:lnTo>
                  <a:lnTo>
                    <a:pt x="477583" y="657415"/>
                  </a:lnTo>
                  <a:lnTo>
                    <a:pt x="516610" y="637832"/>
                  </a:lnTo>
                  <a:lnTo>
                    <a:pt x="552538" y="613562"/>
                  </a:lnTo>
                  <a:lnTo>
                    <a:pt x="585000" y="585000"/>
                  </a:lnTo>
                  <a:lnTo>
                    <a:pt x="613562" y="552538"/>
                  </a:lnTo>
                  <a:lnTo>
                    <a:pt x="637832" y="516610"/>
                  </a:lnTo>
                  <a:lnTo>
                    <a:pt x="657415" y="477583"/>
                  </a:lnTo>
                  <a:lnTo>
                    <a:pt x="671893" y="435889"/>
                  </a:lnTo>
                  <a:lnTo>
                    <a:pt x="680885" y="391909"/>
                  </a:lnTo>
                  <a:lnTo>
                    <a:pt x="681469" y="383057"/>
                  </a:lnTo>
                  <a:lnTo>
                    <a:pt x="682320" y="375500"/>
                  </a:lnTo>
                  <a:lnTo>
                    <a:pt x="683044" y="367144"/>
                  </a:lnTo>
                  <a:lnTo>
                    <a:pt x="683552" y="358762"/>
                  </a:lnTo>
                  <a:lnTo>
                    <a:pt x="683869" y="350380"/>
                  </a:lnTo>
                  <a:lnTo>
                    <a:pt x="683907" y="346964"/>
                  </a:lnTo>
                  <a:lnTo>
                    <a:pt x="683971" y="346062"/>
                  </a:lnTo>
                  <a:lnTo>
                    <a:pt x="683920" y="345452"/>
                  </a:lnTo>
                  <a:lnTo>
                    <a:pt x="683971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9757" y="404347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328757" y="328757"/>
                  </a:moveTo>
                  <a:lnTo>
                    <a:pt x="0" y="328757"/>
                  </a:lnTo>
                  <a:lnTo>
                    <a:pt x="0" y="198218"/>
                  </a:lnTo>
                  <a:lnTo>
                    <a:pt x="14509" y="0"/>
                  </a:lnTo>
                  <a:lnTo>
                    <a:pt x="53185" y="0"/>
                  </a:lnTo>
                  <a:lnTo>
                    <a:pt x="67687" y="198218"/>
                  </a:lnTo>
                  <a:lnTo>
                    <a:pt x="328757" y="198218"/>
                  </a:lnTo>
                  <a:lnTo>
                    <a:pt x="328757" y="251404"/>
                  </a:lnTo>
                  <a:lnTo>
                    <a:pt x="38676" y="251404"/>
                  </a:lnTo>
                  <a:lnTo>
                    <a:pt x="38676" y="294909"/>
                  </a:lnTo>
                  <a:lnTo>
                    <a:pt x="328757" y="294909"/>
                  </a:lnTo>
                  <a:lnTo>
                    <a:pt x="328757" y="328757"/>
                  </a:lnTo>
                  <a:close/>
                </a:path>
                <a:path w="328929" h="328929">
                  <a:moveTo>
                    <a:pt x="198218" y="198218"/>
                  </a:moveTo>
                  <a:lnTo>
                    <a:pt x="67687" y="198218"/>
                  </a:lnTo>
                  <a:lnTo>
                    <a:pt x="198218" y="130538"/>
                  </a:lnTo>
                  <a:lnTo>
                    <a:pt x="198218" y="198218"/>
                  </a:lnTo>
                  <a:close/>
                </a:path>
                <a:path w="328929" h="328929">
                  <a:moveTo>
                    <a:pt x="328757" y="198218"/>
                  </a:moveTo>
                  <a:lnTo>
                    <a:pt x="198218" y="198218"/>
                  </a:lnTo>
                  <a:lnTo>
                    <a:pt x="328757" y="130538"/>
                  </a:lnTo>
                  <a:lnTo>
                    <a:pt x="328757" y="198218"/>
                  </a:lnTo>
                  <a:close/>
                </a:path>
                <a:path w="328929" h="328929">
                  <a:moveTo>
                    <a:pt x="135375" y="294909"/>
                  </a:moveTo>
                  <a:lnTo>
                    <a:pt x="96698" y="294909"/>
                  </a:lnTo>
                  <a:lnTo>
                    <a:pt x="96698" y="251404"/>
                  </a:lnTo>
                  <a:lnTo>
                    <a:pt x="135375" y="251404"/>
                  </a:lnTo>
                  <a:lnTo>
                    <a:pt x="135375" y="294909"/>
                  </a:lnTo>
                  <a:close/>
                </a:path>
                <a:path w="328929" h="328929">
                  <a:moveTo>
                    <a:pt x="232058" y="294909"/>
                  </a:moveTo>
                  <a:lnTo>
                    <a:pt x="193381" y="294909"/>
                  </a:lnTo>
                  <a:lnTo>
                    <a:pt x="193381" y="251404"/>
                  </a:lnTo>
                  <a:lnTo>
                    <a:pt x="232058" y="251404"/>
                  </a:lnTo>
                  <a:lnTo>
                    <a:pt x="232058" y="294909"/>
                  </a:lnTo>
                  <a:close/>
                </a:path>
                <a:path w="328929" h="328929">
                  <a:moveTo>
                    <a:pt x="328757" y="294909"/>
                  </a:moveTo>
                  <a:lnTo>
                    <a:pt x="290080" y="294909"/>
                  </a:lnTo>
                  <a:lnTo>
                    <a:pt x="290080" y="251404"/>
                  </a:lnTo>
                  <a:lnTo>
                    <a:pt x="328757" y="251404"/>
                  </a:lnTo>
                  <a:lnTo>
                    <a:pt x="328757" y="2949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47054" y="3832814"/>
            <a:ext cx="1655445" cy="6311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Industry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540"/>
              </a:lnSpc>
              <a:spcBef>
                <a:spcPts val="95"/>
              </a:spcBef>
            </a:pPr>
            <a:r>
              <a:rPr dirty="0" sz="1400">
                <a:latin typeface="Times New Roman"/>
                <a:cs typeface="Times New Roman"/>
              </a:rPr>
              <a:t>Social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Community Services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98914" y="3869941"/>
            <a:ext cx="684530" cy="684530"/>
            <a:chOff x="6898914" y="3869941"/>
            <a:chExt cx="684530" cy="684530"/>
          </a:xfrm>
        </p:grpSpPr>
        <p:sp>
          <p:nvSpPr>
            <p:cNvPr id="15" name="object 15"/>
            <p:cNvSpPr/>
            <p:nvPr/>
          </p:nvSpPr>
          <p:spPr>
            <a:xfrm>
              <a:off x="6898907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58" y="337908"/>
                  </a:moveTo>
                  <a:lnTo>
                    <a:pt x="683895" y="337019"/>
                  </a:lnTo>
                  <a:lnTo>
                    <a:pt x="683856" y="333590"/>
                  </a:lnTo>
                  <a:lnTo>
                    <a:pt x="683552" y="325208"/>
                  </a:lnTo>
                  <a:lnTo>
                    <a:pt x="683031" y="316826"/>
                  </a:lnTo>
                  <a:lnTo>
                    <a:pt x="682320" y="308470"/>
                  </a:lnTo>
                  <a:lnTo>
                    <a:pt x="681443" y="300634"/>
                  </a:lnTo>
                  <a:lnTo>
                    <a:pt x="680872" y="292061"/>
                  </a:lnTo>
                  <a:lnTo>
                    <a:pt x="671893" y="248081"/>
                  </a:lnTo>
                  <a:lnTo>
                    <a:pt x="657402" y="206387"/>
                  </a:lnTo>
                  <a:lnTo>
                    <a:pt x="637832" y="167360"/>
                  </a:lnTo>
                  <a:lnTo>
                    <a:pt x="613549" y="131432"/>
                  </a:lnTo>
                  <a:lnTo>
                    <a:pt x="584987" y="98971"/>
                  </a:lnTo>
                  <a:lnTo>
                    <a:pt x="552538" y="70408"/>
                  </a:lnTo>
                  <a:lnTo>
                    <a:pt x="516597" y="46139"/>
                  </a:lnTo>
                  <a:lnTo>
                    <a:pt x="477583" y="26555"/>
                  </a:lnTo>
                  <a:lnTo>
                    <a:pt x="435889" y="12077"/>
                  </a:lnTo>
                  <a:lnTo>
                    <a:pt x="391909" y="3086"/>
                  </a:lnTo>
                  <a:lnTo>
                    <a:pt x="383044" y="2501"/>
                  </a:lnTo>
                  <a:lnTo>
                    <a:pt x="375500" y="1651"/>
                  </a:lnTo>
                  <a:lnTo>
                    <a:pt x="367131" y="927"/>
                  </a:lnTo>
                  <a:lnTo>
                    <a:pt x="358762" y="419"/>
                  </a:lnTo>
                  <a:lnTo>
                    <a:pt x="350380" y="101"/>
                  </a:lnTo>
                  <a:lnTo>
                    <a:pt x="346938" y="63"/>
                  </a:lnTo>
                  <a:lnTo>
                    <a:pt x="346049" y="0"/>
                  </a:lnTo>
                  <a:lnTo>
                    <a:pt x="345427" y="50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72" y="94310"/>
                  </a:lnTo>
                  <a:lnTo>
                    <a:pt x="77622" y="125031"/>
                  </a:lnTo>
                  <a:lnTo>
                    <a:pt x="53060" y="159029"/>
                  </a:lnTo>
                  <a:lnTo>
                    <a:pt x="32829" y="195770"/>
                  </a:lnTo>
                  <a:lnTo>
                    <a:pt x="17259" y="234708"/>
                  </a:lnTo>
                  <a:lnTo>
                    <a:pt x="6565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708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50380" y="683856"/>
                  </a:lnTo>
                  <a:lnTo>
                    <a:pt x="392163" y="680262"/>
                  </a:lnTo>
                  <a:lnTo>
                    <a:pt x="433197" y="671576"/>
                  </a:lnTo>
                  <a:lnTo>
                    <a:pt x="472846" y="657936"/>
                  </a:lnTo>
                  <a:lnTo>
                    <a:pt x="510552" y="639533"/>
                  </a:lnTo>
                  <a:lnTo>
                    <a:pt x="545706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910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958" y="341985"/>
                  </a:lnTo>
                  <a:lnTo>
                    <a:pt x="683907" y="338531"/>
                  </a:lnTo>
                  <a:lnTo>
                    <a:pt x="683958" y="337908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61257" y="4024142"/>
              <a:ext cx="306705" cy="367665"/>
            </a:xfrm>
            <a:custGeom>
              <a:avLst/>
              <a:gdLst/>
              <a:ahLst/>
              <a:cxnLst/>
              <a:rect l="l" t="t" r="r" b="b"/>
              <a:pathLst>
                <a:path w="306704" h="367664">
                  <a:moveTo>
                    <a:pt x="183708" y="367417"/>
                  </a:moveTo>
                  <a:lnTo>
                    <a:pt x="134848" y="360860"/>
                  </a:lnTo>
                  <a:lnTo>
                    <a:pt x="90957" y="342351"/>
                  </a:lnTo>
                  <a:lnTo>
                    <a:pt x="53781" y="313636"/>
                  </a:lnTo>
                  <a:lnTo>
                    <a:pt x="25066" y="276460"/>
                  </a:lnTo>
                  <a:lnTo>
                    <a:pt x="6557" y="232569"/>
                  </a:lnTo>
                  <a:lnTo>
                    <a:pt x="0" y="183708"/>
                  </a:lnTo>
                  <a:lnTo>
                    <a:pt x="6177" y="136526"/>
                  </a:lnTo>
                  <a:lnTo>
                    <a:pt x="23635" y="93749"/>
                  </a:lnTo>
                  <a:lnTo>
                    <a:pt x="50761" y="57042"/>
                  </a:lnTo>
                  <a:lnTo>
                    <a:pt x="85945" y="28072"/>
                  </a:lnTo>
                  <a:lnTo>
                    <a:pt x="127573" y="8502"/>
                  </a:lnTo>
                  <a:lnTo>
                    <a:pt x="174035" y="0"/>
                  </a:lnTo>
                  <a:lnTo>
                    <a:pt x="174035" y="187576"/>
                  </a:lnTo>
                  <a:lnTo>
                    <a:pt x="306504" y="320045"/>
                  </a:lnTo>
                  <a:lnTo>
                    <a:pt x="279500" y="340500"/>
                  </a:lnTo>
                  <a:lnTo>
                    <a:pt x="249640" y="355334"/>
                  </a:lnTo>
                  <a:lnTo>
                    <a:pt x="217514" y="364366"/>
                  </a:lnTo>
                  <a:lnTo>
                    <a:pt x="183708" y="367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4639" y="4024142"/>
              <a:ext cx="173555" cy="1740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8172" y="4217524"/>
              <a:ext cx="160022" cy="1131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67884" y="3832814"/>
            <a:ext cx="1204595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Domain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Social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Services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30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378367"/>
            <a:ext cx="2214880" cy="4234180"/>
            <a:chOff x="857253" y="1378367"/>
            <a:chExt cx="2214880" cy="4234180"/>
          </a:xfrm>
        </p:grpSpPr>
        <p:sp>
          <p:nvSpPr>
            <p:cNvPr id="5" name="object 5"/>
            <p:cNvSpPr/>
            <p:nvPr/>
          </p:nvSpPr>
          <p:spPr>
            <a:xfrm>
              <a:off x="857253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80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7489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665" y="1654264"/>
              <a:ext cx="290081" cy="2528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57010" y="1635895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110231" y="220935"/>
                  </a:moveTo>
                  <a:lnTo>
                    <a:pt x="67104" y="211925"/>
                  </a:lnTo>
                  <a:lnTo>
                    <a:pt x="32090" y="188001"/>
                  </a:lnTo>
                  <a:lnTo>
                    <a:pt x="8589" y="152747"/>
                  </a:lnTo>
                  <a:lnTo>
                    <a:pt x="0" y="109743"/>
                  </a:lnTo>
                  <a:lnTo>
                    <a:pt x="8589" y="66830"/>
                  </a:lnTo>
                  <a:lnTo>
                    <a:pt x="32090" y="31848"/>
                  </a:lnTo>
                  <a:lnTo>
                    <a:pt x="67104" y="8378"/>
                  </a:lnTo>
                  <a:lnTo>
                    <a:pt x="110231" y="0"/>
                  </a:lnTo>
                  <a:lnTo>
                    <a:pt x="153426" y="9013"/>
                  </a:lnTo>
                  <a:lnTo>
                    <a:pt x="173559" y="22725"/>
                  </a:lnTo>
                  <a:lnTo>
                    <a:pt x="110712" y="22725"/>
                  </a:lnTo>
                  <a:lnTo>
                    <a:pt x="94994" y="24076"/>
                  </a:lnTo>
                  <a:lnTo>
                    <a:pt x="53186" y="43993"/>
                  </a:lnTo>
                  <a:lnTo>
                    <a:pt x="22786" y="103884"/>
                  </a:lnTo>
                  <a:lnTo>
                    <a:pt x="26601" y="137340"/>
                  </a:lnTo>
                  <a:lnTo>
                    <a:pt x="43513" y="167757"/>
                  </a:lnTo>
                  <a:lnTo>
                    <a:pt x="204338" y="167757"/>
                  </a:lnTo>
                  <a:lnTo>
                    <a:pt x="197738" y="177911"/>
                  </a:lnTo>
                  <a:lnTo>
                    <a:pt x="214169" y="193870"/>
                  </a:lnTo>
                  <a:lnTo>
                    <a:pt x="223915" y="193870"/>
                  </a:lnTo>
                  <a:lnTo>
                    <a:pt x="226683" y="194349"/>
                  </a:lnTo>
                  <a:lnTo>
                    <a:pt x="232328" y="196857"/>
                  </a:lnTo>
                  <a:lnTo>
                    <a:pt x="234148" y="198218"/>
                  </a:lnTo>
                  <a:lnTo>
                    <a:pt x="177911" y="198218"/>
                  </a:lnTo>
                  <a:lnTo>
                    <a:pt x="162375" y="208088"/>
                  </a:lnTo>
                  <a:lnTo>
                    <a:pt x="145705" y="215195"/>
                  </a:lnTo>
                  <a:lnTo>
                    <a:pt x="128218" y="219492"/>
                  </a:lnTo>
                  <a:lnTo>
                    <a:pt x="110231" y="220935"/>
                  </a:lnTo>
                  <a:close/>
                </a:path>
                <a:path w="291464" h="291464">
                  <a:moveTo>
                    <a:pt x="204650" y="167277"/>
                  </a:moveTo>
                  <a:lnTo>
                    <a:pt x="177911" y="167277"/>
                  </a:lnTo>
                  <a:lnTo>
                    <a:pt x="186873" y="154835"/>
                  </a:lnTo>
                  <a:lnTo>
                    <a:pt x="193387" y="140988"/>
                  </a:lnTo>
                  <a:lnTo>
                    <a:pt x="197362" y="126144"/>
                  </a:lnTo>
                  <a:lnTo>
                    <a:pt x="198665" y="111192"/>
                  </a:lnTo>
                  <a:lnTo>
                    <a:pt x="198707" y="110712"/>
                  </a:lnTo>
                  <a:lnTo>
                    <a:pt x="191824" y="76364"/>
                  </a:lnTo>
                  <a:lnTo>
                    <a:pt x="173020" y="48407"/>
                  </a:lnTo>
                  <a:lnTo>
                    <a:pt x="145061" y="29606"/>
                  </a:lnTo>
                  <a:lnTo>
                    <a:pt x="110712" y="22725"/>
                  </a:lnTo>
                  <a:lnTo>
                    <a:pt x="173559" y="22725"/>
                  </a:lnTo>
                  <a:lnTo>
                    <a:pt x="188552" y="32936"/>
                  </a:lnTo>
                  <a:lnTo>
                    <a:pt x="212073" y="68189"/>
                  </a:lnTo>
                  <a:lnTo>
                    <a:pt x="220361" y="110712"/>
                  </a:lnTo>
                  <a:lnTo>
                    <a:pt x="220455" y="111192"/>
                  </a:lnTo>
                  <a:lnTo>
                    <a:pt x="219012" y="129096"/>
                  </a:lnTo>
                  <a:lnTo>
                    <a:pt x="214715" y="146365"/>
                  </a:lnTo>
                  <a:lnTo>
                    <a:pt x="207608" y="162727"/>
                  </a:lnTo>
                  <a:lnTo>
                    <a:pt x="204650" y="167277"/>
                  </a:lnTo>
                  <a:close/>
                </a:path>
                <a:path w="291464" h="291464">
                  <a:moveTo>
                    <a:pt x="204338" y="167757"/>
                  </a:moveTo>
                  <a:lnTo>
                    <a:pt x="43513" y="167757"/>
                  </a:lnTo>
                  <a:lnTo>
                    <a:pt x="49766" y="164395"/>
                  </a:lnTo>
                  <a:lnTo>
                    <a:pt x="89503" y="152530"/>
                  </a:lnTo>
                  <a:lnTo>
                    <a:pt x="109743" y="150837"/>
                  </a:lnTo>
                  <a:lnTo>
                    <a:pt x="119890" y="151276"/>
                  </a:lnTo>
                  <a:lnTo>
                    <a:pt x="164074" y="161473"/>
                  </a:lnTo>
                  <a:lnTo>
                    <a:pt x="177911" y="167277"/>
                  </a:lnTo>
                  <a:lnTo>
                    <a:pt x="204650" y="167277"/>
                  </a:lnTo>
                  <a:lnTo>
                    <a:pt x="204338" y="167757"/>
                  </a:lnTo>
                  <a:close/>
                </a:path>
                <a:path w="291464" h="291464">
                  <a:moveTo>
                    <a:pt x="223915" y="193870"/>
                  </a:moveTo>
                  <a:lnTo>
                    <a:pt x="214169" y="193870"/>
                  </a:lnTo>
                  <a:lnTo>
                    <a:pt x="220584" y="193293"/>
                  </a:lnTo>
                  <a:lnTo>
                    <a:pt x="223915" y="193870"/>
                  </a:lnTo>
                  <a:close/>
                </a:path>
                <a:path w="291464" h="291464">
                  <a:moveTo>
                    <a:pt x="264994" y="291223"/>
                  </a:moveTo>
                  <a:lnTo>
                    <a:pt x="201117" y="237375"/>
                  </a:lnTo>
                  <a:lnTo>
                    <a:pt x="192901" y="222393"/>
                  </a:lnTo>
                  <a:lnTo>
                    <a:pt x="194350" y="214169"/>
                  </a:lnTo>
                  <a:lnTo>
                    <a:pt x="177911" y="198218"/>
                  </a:lnTo>
                  <a:lnTo>
                    <a:pt x="234148" y="198218"/>
                  </a:lnTo>
                  <a:lnTo>
                    <a:pt x="237383" y="200636"/>
                  </a:lnTo>
                  <a:lnTo>
                    <a:pt x="284275" y="248009"/>
                  </a:lnTo>
                  <a:lnTo>
                    <a:pt x="289629" y="256599"/>
                  </a:lnTo>
                  <a:lnTo>
                    <a:pt x="291223" y="266322"/>
                  </a:lnTo>
                  <a:lnTo>
                    <a:pt x="289100" y="275955"/>
                  </a:lnTo>
                  <a:lnTo>
                    <a:pt x="283306" y="284275"/>
                  </a:lnTo>
                  <a:lnTo>
                    <a:pt x="274716" y="289629"/>
                  </a:lnTo>
                  <a:lnTo>
                    <a:pt x="264994" y="291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7931" y="1678439"/>
              <a:ext cx="97651" cy="976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636" y="1654358"/>
              <a:ext cx="111681" cy="18507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52695" y="2142452"/>
            <a:ext cx="2018664" cy="2078989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Affected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39370" marR="31750">
              <a:lnSpc>
                <a:spcPct val="92000"/>
              </a:lnSpc>
              <a:spcBef>
                <a:spcPts val="775"/>
              </a:spcBef>
            </a:pPr>
            <a:r>
              <a:rPr dirty="0" sz="1150">
                <a:latin typeface="Times New Roman"/>
                <a:cs typeface="Times New Roman"/>
              </a:rPr>
              <a:t>Small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medium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industries, </a:t>
            </a:r>
            <a:r>
              <a:rPr dirty="0" sz="1150" spc="10">
                <a:latin typeface="Times New Roman"/>
                <a:cs typeface="Times New Roman"/>
              </a:rPr>
              <a:t>power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distribution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companies, </a:t>
            </a:r>
            <a:r>
              <a:rPr dirty="0" sz="1150">
                <a:latin typeface="Times New Roman"/>
                <a:cs typeface="Times New Roman"/>
              </a:rPr>
              <a:t>transformer</a:t>
            </a:r>
            <a:r>
              <a:rPr dirty="0" sz="1150" spc="4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operators,</a:t>
            </a:r>
            <a:r>
              <a:rPr dirty="0" sz="1150" spc="43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maintenance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engineers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are </a:t>
            </a:r>
            <a:r>
              <a:rPr dirty="0" sz="1150">
                <a:latin typeface="Times New Roman"/>
                <a:cs typeface="Times New Roman"/>
              </a:rPr>
              <a:t>affected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unexpected </a:t>
            </a:r>
            <a:r>
              <a:rPr dirty="0" sz="1150">
                <a:latin typeface="Times New Roman"/>
                <a:cs typeface="Times New Roman"/>
              </a:rPr>
              <a:t>electrical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equipment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failures.</a:t>
            </a:r>
            <a:endParaRPr sz="115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1400"/>
              </a:lnSpc>
              <a:spcBef>
                <a:spcPts val="20"/>
              </a:spcBef>
            </a:pPr>
            <a:r>
              <a:rPr dirty="0" sz="1150">
                <a:latin typeface="Times New Roman"/>
                <a:cs typeface="Times New Roman"/>
              </a:rPr>
              <a:t>These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failures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also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impact </a:t>
            </a:r>
            <a:r>
              <a:rPr dirty="0" sz="1150">
                <a:latin typeface="Times New Roman"/>
                <a:cs typeface="Times New Roman"/>
              </a:rPr>
              <a:t>factory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workers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businesses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depend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continuous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power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supply.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20840" y="1378367"/>
            <a:ext cx="2214880" cy="4234180"/>
            <a:chOff x="3120840" y="1378367"/>
            <a:chExt cx="2214880" cy="4234180"/>
          </a:xfrm>
        </p:grpSpPr>
        <p:sp>
          <p:nvSpPr>
            <p:cNvPr id="13" name="object 13"/>
            <p:cNvSpPr/>
            <p:nvPr/>
          </p:nvSpPr>
          <p:spPr>
            <a:xfrm>
              <a:off x="3120840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21087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17" y="180936"/>
                  </a:lnTo>
                  <a:lnTo>
                    <a:pt x="721817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37" y="7823"/>
                  </a:lnTo>
                  <a:lnTo>
                    <a:pt x="447014" y="1968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00" y="20548"/>
                  </a:lnTo>
                  <a:lnTo>
                    <a:pt x="242125" y="34937"/>
                  </a:lnTo>
                  <a:lnTo>
                    <a:pt x="206438" y="52895"/>
                  </a:lnTo>
                  <a:lnTo>
                    <a:pt x="172681" y="74269"/>
                  </a:lnTo>
                  <a:lnTo>
                    <a:pt x="141185" y="98856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66" y="260604"/>
                  </a:lnTo>
                  <a:lnTo>
                    <a:pt x="14744" y="298538"/>
                  </a:lnTo>
                  <a:lnTo>
                    <a:pt x="5981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80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53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591" y="786968"/>
                  </a:lnTo>
                  <a:lnTo>
                    <a:pt x="298526" y="799503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47"/>
                  </a:lnTo>
                  <a:lnTo>
                    <a:pt x="417106" y="814120"/>
                  </a:lnTo>
                  <a:lnTo>
                    <a:pt x="456958" y="811187"/>
                  </a:lnTo>
                  <a:lnTo>
                    <a:pt x="496316" y="804354"/>
                  </a:lnTo>
                  <a:lnTo>
                    <a:pt x="534822" y="793699"/>
                  </a:lnTo>
                  <a:lnTo>
                    <a:pt x="572096" y="779322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403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708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44531" y="1630019"/>
              <a:ext cx="407670" cy="337820"/>
            </a:xfrm>
            <a:custGeom>
              <a:avLst/>
              <a:gdLst/>
              <a:ahLst/>
              <a:cxnLst/>
              <a:rect l="l" t="t" r="r" b="b"/>
              <a:pathLst>
                <a:path w="407670" h="337819">
                  <a:moveTo>
                    <a:pt x="83159" y="24180"/>
                  </a:moveTo>
                  <a:lnTo>
                    <a:pt x="81267" y="14770"/>
                  </a:lnTo>
                  <a:lnTo>
                    <a:pt x="76085" y="7086"/>
                  </a:lnTo>
                  <a:lnTo>
                    <a:pt x="68402" y="1905"/>
                  </a:lnTo>
                  <a:lnTo>
                    <a:pt x="58991" y="0"/>
                  </a:lnTo>
                  <a:lnTo>
                    <a:pt x="49580" y="1905"/>
                  </a:lnTo>
                  <a:lnTo>
                    <a:pt x="41897" y="7086"/>
                  </a:lnTo>
                  <a:lnTo>
                    <a:pt x="36715" y="14770"/>
                  </a:lnTo>
                  <a:lnTo>
                    <a:pt x="34823" y="24180"/>
                  </a:lnTo>
                  <a:lnTo>
                    <a:pt x="36715" y="33591"/>
                  </a:lnTo>
                  <a:lnTo>
                    <a:pt x="41897" y="41275"/>
                  </a:lnTo>
                  <a:lnTo>
                    <a:pt x="49580" y="46456"/>
                  </a:lnTo>
                  <a:lnTo>
                    <a:pt x="58991" y="48348"/>
                  </a:lnTo>
                  <a:lnTo>
                    <a:pt x="68402" y="46456"/>
                  </a:lnTo>
                  <a:lnTo>
                    <a:pt x="76085" y="41275"/>
                  </a:lnTo>
                  <a:lnTo>
                    <a:pt x="81267" y="33591"/>
                  </a:lnTo>
                  <a:lnTo>
                    <a:pt x="83159" y="24180"/>
                  </a:lnTo>
                  <a:close/>
                </a:path>
                <a:path w="407670" h="337819">
                  <a:moveTo>
                    <a:pt x="179666" y="24180"/>
                  </a:moveTo>
                  <a:lnTo>
                    <a:pt x="177761" y="14770"/>
                  </a:lnTo>
                  <a:lnTo>
                    <a:pt x="172580" y="7086"/>
                  </a:lnTo>
                  <a:lnTo>
                    <a:pt x="164896" y="1905"/>
                  </a:lnTo>
                  <a:lnTo>
                    <a:pt x="155486" y="0"/>
                  </a:lnTo>
                  <a:lnTo>
                    <a:pt x="146075" y="1905"/>
                  </a:lnTo>
                  <a:lnTo>
                    <a:pt x="138391" y="7086"/>
                  </a:lnTo>
                  <a:lnTo>
                    <a:pt x="133210" y="14770"/>
                  </a:lnTo>
                  <a:lnTo>
                    <a:pt x="131318" y="24180"/>
                  </a:lnTo>
                  <a:lnTo>
                    <a:pt x="133210" y="33591"/>
                  </a:lnTo>
                  <a:lnTo>
                    <a:pt x="138391" y="41275"/>
                  </a:lnTo>
                  <a:lnTo>
                    <a:pt x="146075" y="46456"/>
                  </a:lnTo>
                  <a:lnTo>
                    <a:pt x="155486" y="48348"/>
                  </a:lnTo>
                  <a:lnTo>
                    <a:pt x="164896" y="46456"/>
                  </a:lnTo>
                  <a:lnTo>
                    <a:pt x="172580" y="41275"/>
                  </a:lnTo>
                  <a:lnTo>
                    <a:pt x="177761" y="33591"/>
                  </a:lnTo>
                  <a:lnTo>
                    <a:pt x="179666" y="24180"/>
                  </a:lnTo>
                  <a:close/>
                </a:path>
                <a:path w="407670" h="337819">
                  <a:moveTo>
                    <a:pt x="276491" y="24180"/>
                  </a:moveTo>
                  <a:lnTo>
                    <a:pt x="274599" y="14770"/>
                  </a:lnTo>
                  <a:lnTo>
                    <a:pt x="269417" y="7086"/>
                  </a:lnTo>
                  <a:lnTo>
                    <a:pt x="261734" y="1905"/>
                  </a:lnTo>
                  <a:lnTo>
                    <a:pt x="252323" y="0"/>
                  </a:lnTo>
                  <a:lnTo>
                    <a:pt x="242912" y="1905"/>
                  </a:lnTo>
                  <a:lnTo>
                    <a:pt x="235229" y="7086"/>
                  </a:lnTo>
                  <a:lnTo>
                    <a:pt x="230047" y="14770"/>
                  </a:lnTo>
                  <a:lnTo>
                    <a:pt x="228155" y="24180"/>
                  </a:lnTo>
                  <a:lnTo>
                    <a:pt x="230047" y="33591"/>
                  </a:lnTo>
                  <a:lnTo>
                    <a:pt x="235229" y="41275"/>
                  </a:lnTo>
                  <a:lnTo>
                    <a:pt x="242912" y="46456"/>
                  </a:lnTo>
                  <a:lnTo>
                    <a:pt x="252323" y="48348"/>
                  </a:lnTo>
                  <a:lnTo>
                    <a:pt x="261734" y="46456"/>
                  </a:lnTo>
                  <a:lnTo>
                    <a:pt x="269417" y="41275"/>
                  </a:lnTo>
                  <a:lnTo>
                    <a:pt x="274599" y="33591"/>
                  </a:lnTo>
                  <a:lnTo>
                    <a:pt x="276491" y="24180"/>
                  </a:lnTo>
                  <a:close/>
                </a:path>
                <a:path w="407670" h="337819">
                  <a:moveTo>
                    <a:pt x="307771" y="132575"/>
                  </a:moveTo>
                  <a:lnTo>
                    <a:pt x="296748" y="83019"/>
                  </a:lnTo>
                  <a:lnTo>
                    <a:pt x="296684" y="82727"/>
                  </a:lnTo>
                  <a:lnTo>
                    <a:pt x="296570" y="82194"/>
                  </a:lnTo>
                  <a:lnTo>
                    <a:pt x="294335" y="72136"/>
                  </a:lnTo>
                  <a:lnTo>
                    <a:pt x="252222" y="53187"/>
                  </a:lnTo>
                  <a:lnTo>
                    <a:pt x="242379" y="54000"/>
                  </a:lnTo>
                  <a:lnTo>
                    <a:pt x="204025" y="100469"/>
                  </a:lnTo>
                  <a:lnTo>
                    <a:pt x="200126" y="83019"/>
                  </a:lnTo>
                  <a:lnTo>
                    <a:pt x="200063" y="82727"/>
                  </a:lnTo>
                  <a:lnTo>
                    <a:pt x="199936" y="82194"/>
                  </a:lnTo>
                  <a:lnTo>
                    <a:pt x="197688" y="72136"/>
                  </a:lnTo>
                  <a:lnTo>
                    <a:pt x="159893" y="53530"/>
                  </a:lnTo>
                  <a:lnTo>
                    <a:pt x="144729" y="54356"/>
                  </a:lnTo>
                  <a:lnTo>
                    <a:pt x="130530" y="58699"/>
                  </a:lnTo>
                  <a:lnTo>
                    <a:pt x="130378" y="58699"/>
                  </a:lnTo>
                  <a:lnTo>
                    <a:pt x="117005" y="66725"/>
                  </a:lnTo>
                  <a:lnTo>
                    <a:pt x="115366" y="68072"/>
                  </a:lnTo>
                  <a:lnTo>
                    <a:pt x="114185" y="69989"/>
                  </a:lnTo>
                  <a:lnTo>
                    <a:pt x="113715" y="72136"/>
                  </a:lnTo>
                  <a:lnTo>
                    <a:pt x="107340" y="99555"/>
                  </a:lnTo>
                  <a:lnTo>
                    <a:pt x="103479" y="82727"/>
                  </a:lnTo>
                  <a:lnTo>
                    <a:pt x="103365" y="82194"/>
                  </a:lnTo>
                  <a:lnTo>
                    <a:pt x="100558" y="69989"/>
                  </a:lnTo>
                  <a:lnTo>
                    <a:pt x="58839" y="53187"/>
                  </a:lnTo>
                  <a:lnTo>
                    <a:pt x="48996" y="54000"/>
                  </a:lnTo>
                  <a:lnTo>
                    <a:pt x="1358" y="142328"/>
                  </a:lnTo>
                  <a:lnTo>
                    <a:pt x="0" y="147688"/>
                  </a:lnTo>
                  <a:lnTo>
                    <a:pt x="419" y="148475"/>
                  </a:lnTo>
                  <a:lnTo>
                    <a:pt x="3251" y="153238"/>
                  </a:lnTo>
                  <a:lnTo>
                    <a:pt x="8661" y="154622"/>
                  </a:lnTo>
                  <a:lnTo>
                    <a:pt x="15519" y="154622"/>
                  </a:lnTo>
                  <a:lnTo>
                    <a:pt x="17272" y="153238"/>
                  </a:lnTo>
                  <a:lnTo>
                    <a:pt x="19342" y="151536"/>
                  </a:lnTo>
                  <a:lnTo>
                    <a:pt x="20320" y="147116"/>
                  </a:lnTo>
                  <a:lnTo>
                    <a:pt x="34823" y="82194"/>
                  </a:lnTo>
                  <a:lnTo>
                    <a:pt x="34823" y="116522"/>
                  </a:lnTo>
                  <a:lnTo>
                    <a:pt x="20320" y="188544"/>
                  </a:lnTo>
                  <a:lnTo>
                    <a:pt x="34823" y="188544"/>
                  </a:lnTo>
                  <a:lnTo>
                    <a:pt x="34823" y="260540"/>
                  </a:lnTo>
                  <a:lnTo>
                    <a:pt x="54152" y="241198"/>
                  </a:lnTo>
                  <a:lnTo>
                    <a:pt x="54152" y="188544"/>
                  </a:lnTo>
                  <a:lnTo>
                    <a:pt x="63817" y="188544"/>
                  </a:lnTo>
                  <a:lnTo>
                    <a:pt x="63817" y="231533"/>
                  </a:lnTo>
                  <a:lnTo>
                    <a:pt x="83159" y="212102"/>
                  </a:lnTo>
                  <a:lnTo>
                    <a:pt x="83159" y="188544"/>
                  </a:lnTo>
                  <a:lnTo>
                    <a:pt x="97675" y="188544"/>
                  </a:lnTo>
                  <a:lnTo>
                    <a:pt x="83159" y="116522"/>
                  </a:lnTo>
                  <a:lnTo>
                    <a:pt x="83159" y="82727"/>
                  </a:lnTo>
                  <a:lnTo>
                    <a:pt x="83223" y="83019"/>
                  </a:lnTo>
                  <a:lnTo>
                    <a:pt x="97675" y="145872"/>
                  </a:lnTo>
                  <a:lnTo>
                    <a:pt x="97777" y="147116"/>
                  </a:lnTo>
                  <a:lnTo>
                    <a:pt x="97891" y="148475"/>
                  </a:lnTo>
                  <a:lnTo>
                    <a:pt x="97942" y="149098"/>
                  </a:lnTo>
                  <a:lnTo>
                    <a:pt x="98094" y="150876"/>
                  </a:lnTo>
                  <a:lnTo>
                    <a:pt x="102184" y="154622"/>
                  </a:lnTo>
                  <a:lnTo>
                    <a:pt x="111937" y="154622"/>
                  </a:lnTo>
                  <a:lnTo>
                    <a:pt x="115747" y="151536"/>
                  </a:lnTo>
                  <a:lnTo>
                    <a:pt x="116713" y="147116"/>
                  </a:lnTo>
                  <a:lnTo>
                    <a:pt x="117005" y="145046"/>
                  </a:lnTo>
                  <a:lnTo>
                    <a:pt x="127355" y="99555"/>
                  </a:lnTo>
                  <a:lnTo>
                    <a:pt x="131114" y="83019"/>
                  </a:lnTo>
                  <a:lnTo>
                    <a:pt x="131114" y="164084"/>
                  </a:lnTo>
                  <a:lnTo>
                    <a:pt x="140550" y="154622"/>
                  </a:lnTo>
                  <a:lnTo>
                    <a:pt x="141973" y="153238"/>
                  </a:lnTo>
                  <a:lnTo>
                    <a:pt x="148247" y="149098"/>
                  </a:lnTo>
                  <a:lnTo>
                    <a:pt x="155473" y="147688"/>
                  </a:lnTo>
                  <a:lnTo>
                    <a:pt x="162750" y="149098"/>
                  </a:lnTo>
                  <a:lnTo>
                    <a:pt x="168998" y="153238"/>
                  </a:lnTo>
                  <a:lnTo>
                    <a:pt x="170472" y="154622"/>
                  </a:lnTo>
                  <a:lnTo>
                    <a:pt x="179857" y="163652"/>
                  </a:lnTo>
                  <a:lnTo>
                    <a:pt x="179857" y="147688"/>
                  </a:lnTo>
                  <a:lnTo>
                    <a:pt x="179857" y="83083"/>
                  </a:lnTo>
                  <a:lnTo>
                    <a:pt x="195338" y="151536"/>
                  </a:lnTo>
                  <a:lnTo>
                    <a:pt x="195199" y="151536"/>
                  </a:lnTo>
                  <a:lnTo>
                    <a:pt x="199161" y="154622"/>
                  </a:lnTo>
                  <a:lnTo>
                    <a:pt x="208661" y="154622"/>
                  </a:lnTo>
                  <a:lnTo>
                    <a:pt x="212483" y="151536"/>
                  </a:lnTo>
                  <a:lnTo>
                    <a:pt x="213448" y="147116"/>
                  </a:lnTo>
                  <a:lnTo>
                    <a:pt x="224015" y="100469"/>
                  </a:lnTo>
                  <a:lnTo>
                    <a:pt x="227952" y="83019"/>
                  </a:lnTo>
                  <a:lnTo>
                    <a:pt x="227952" y="212102"/>
                  </a:lnTo>
                  <a:lnTo>
                    <a:pt x="247294" y="192760"/>
                  </a:lnTo>
                  <a:lnTo>
                    <a:pt x="247294" y="159550"/>
                  </a:lnTo>
                  <a:lnTo>
                    <a:pt x="256971" y="159550"/>
                  </a:lnTo>
                  <a:lnTo>
                    <a:pt x="256971" y="183286"/>
                  </a:lnTo>
                  <a:lnTo>
                    <a:pt x="276301" y="163944"/>
                  </a:lnTo>
                  <a:lnTo>
                    <a:pt x="276301" y="159550"/>
                  </a:lnTo>
                  <a:lnTo>
                    <a:pt x="276301" y="83019"/>
                  </a:lnTo>
                  <a:lnTo>
                    <a:pt x="291515" y="148475"/>
                  </a:lnTo>
                  <a:lnTo>
                    <a:pt x="291871" y="148475"/>
                  </a:lnTo>
                  <a:lnTo>
                    <a:pt x="307771" y="132575"/>
                  </a:lnTo>
                  <a:close/>
                </a:path>
                <a:path w="407670" h="337819">
                  <a:moveTo>
                    <a:pt x="407085" y="80987"/>
                  </a:moveTo>
                  <a:lnTo>
                    <a:pt x="329730" y="80987"/>
                  </a:lnTo>
                  <a:lnTo>
                    <a:pt x="358254" y="109512"/>
                  </a:lnTo>
                  <a:lnTo>
                    <a:pt x="228206" y="239560"/>
                  </a:lnTo>
                  <a:lnTo>
                    <a:pt x="155676" y="167030"/>
                  </a:lnTo>
                  <a:lnTo>
                    <a:pt x="5321" y="317398"/>
                  </a:lnTo>
                  <a:lnTo>
                    <a:pt x="25628" y="337705"/>
                  </a:lnTo>
                  <a:lnTo>
                    <a:pt x="155676" y="207645"/>
                  </a:lnTo>
                  <a:lnTo>
                    <a:pt x="228206" y="280162"/>
                  </a:lnTo>
                  <a:lnTo>
                    <a:pt x="329730" y="178638"/>
                  </a:lnTo>
                  <a:lnTo>
                    <a:pt x="378548" y="129806"/>
                  </a:lnTo>
                  <a:lnTo>
                    <a:pt x="407085" y="158343"/>
                  </a:lnTo>
                  <a:lnTo>
                    <a:pt x="407085" y="80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197071" y="2253189"/>
            <a:ext cx="2056764" cy="20256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54025" marR="446405" indent="-635">
              <a:lnSpc>
                <a:spcPts val="1730"/>
              </a:lnSpc>
              <a:spcBef>
                <a:spcPts val="254"/>
              </a:spcBef>
            </a:pPr>
            <a:r>
              <a:rPr dirty="0" sz="1500" b="1">
                <a:solidFill>
                  <a:srgbClr val="F16629"/>
                </a:solidFill>
                <a:latin typeface="Times New Roman"/>
                <a:cs typeface="Times New Roman"/>
              </a:rPr>
              <a:t>Impact</a:t>
            </a:r>
            <a:r>
              <a:rPr dirty="0" sz="1500" spc="38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25" b="1">
                <a:solidFill>
                  <a:srgbClr val="F16629"/>
                </a:solidFill>
                <a:latin typeface="Times New Roman"/>
                <a:cs typeface="Times New Roman"/>
              </a:rPr>
              <a:t>on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>
              <a:lnSpc>
                <a:spcPts val="1280"/>
              </a:lnSpc>
              <a:spcBef>
                <a:spcPts val="680"/>
              </a:spcBef>
            </a:pPr>
            <a:r>
              <a:rPr dirty="0" sz="1150">
                <a:latin typeface="Times New Roman"/>
                <a:cs typeface="Times New Roman"/>
              </a:rPr>
              <a:t>Unexpected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failures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cause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power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interruptions,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production </a:t>
            </a:r>
            <a:r>
              <a:rPr dirty="0" sz="1150">
                <a:latin typeface="Times New Roman"/>
                <a:cs typeface="Times New Roman"/>
              </a:rPr>
              <a:t>delays,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financial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losses.</a:t>
            </a:r>
            <a:endParaRPr sz="1150">
              <a:latin typeface="Times New Roman"/>
              <a:cs typeface="Times New Roman"/>
            </a:endParaRPr>
          </a:p>
          <a:p>
            <a:pPr algn="ctr" marL="70485" marR="62865" indent="-635">
              <a:lnSpc>
                <a:spcPct val="91400"/>
              </a:lnSpc>
            </a:pPr>
            <a:r>
              <a:rPr dirty="0" sz="1150">
                <a:latin typeface="Times New Roman"/>
                <a:cs typeface="Times New Roman"/>
              </a:rPr>
              <a:t>Industries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must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spend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more </a:t>
            </a:r>
            <a:r>
              <a:rPr dirty="0" sz="1150">
                <a:latin typeface="Times New Roman"/>
                <a:cs typeface="Times New Roman"/>
              </a:rPr>
              <a:t>money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repairs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 spc="10">
                <a:latin typeface="Times New Roman"/>
                <a:cs typeface="Times New Roman"/>
              </a:rPr>
              <a:t>maintenance.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It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also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increases </a:t>
            </a:r>
            <a:r>
              <a:rPr dirty="0" sz="1150">
                <a:latin typeface="Times New Roman"/>
                <a:cs typeface="Times New Roman"/>
              </a:rPr>
              <a:t>downtime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reduces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</a:t>
            </a:r>
            <a:endParaRPr sz="1150">
              <a:latin typeface="Times New Roman"/>
              <a:cs typeface="Times New Roman"/>
            </a:endParaRPr>
          </a:p>
          <a:p>
            <a:pPr algn="ctr" marL="149860" marR="142240">
              <a:lnSpc>
                <a:spcPts val="1280"/>
              </a:lnSpc>
              <a:spcBef>
                <a:spcPts val="30"/>
              </a:spcBef>
            </a:pPr>
            <a:r>
              <a:rPr dirty="0" sz="1150">
                <a:latin typeface="Times New Roman"/>
                <a:cs typeface="Times New Roman"/>
              </a:rPr>
              <a:t>efficiency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reliability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electrical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systems.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84427" y="1378367"/>
            <a:ext cx="2214880" cy="4234180"/>
            <a:chOff x="5384427" y="1378367"/>
            <a:chExt cx="2214880" cy="4234180"/>
          </a:xfrm>
        </p:grpSpPr>
        <p:sp>
          <p:nvSpPr>
            <p:cNvPr id="18" name="object 18"/>
            <p:cNvSpPr/>
            <p:nvPr/>
          </p:nvSpPr>
          <p:spPr>
            <a:xfrm>
              <a:off x="5384427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4674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489920" y="2253189"/>
            <a:ext cx="1998345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691515" marR="683260">
              <a:lnSpc>
                <a:spcPts val="1730"/>
              </a:lnSpc>
              <a:spcBef>
                <a:spcPts val="254"/>
              </a:spcBef>
            </a:pPr>
            <a:r>
              <a:rPr dirty="0" sz="1500" spc="-20" b="1">
                <a:solidFill>
                  <a:srgbClr val="F16629"/>
                </a:solidFill>
                <a:latin typeface="Times New Roman"/>
                <a:cs typeface="Times New Roman"/>
              </a:rPr>
              <a:t>Root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Causes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problem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exists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because </a:t>
            </a:r>
            <a:r>
              <a:rPr dirty="0" sz="1150">
                <a:latin typeface="Times New Roman"/>
                <a:cs typeface="Times New Roman"/>
              </a:rPr>
              <a:t>many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electrical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not </a:t>
            </a:r>
            <a:r>
              <a:rPr dirty="0" sz="1150">
                <a:latin typeface="Times New Roman"/>
                <a:cs typeface="Times New Roman"/>
              </a:rPr>
              <a:t>have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real-time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monitoring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for </a:t>
            </a:r>
            <a:r>
              <a:rPr dirty="0" sz="1150">
                <a:latin typeface="Times New Roman"/>
                <a:cs typeface="Times New Roman"/>
              </a:rPr>
              <a:t>current,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voltage,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 spc="10">
                <a:latin typeface="Times New Roman"/>
                <a:cs typeface="Times New Roman"/>
              </a:rPr>
              <a:t>temperature.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Maintenance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is </a:t>
            </a:r>
            <a:r>
              <a:rPr dirty="0" sz="1150">
                <a:latin typeface="Times New Roman"/>
                <a:cs typeface="Times New Roman"/>
              </a:rPr>
              <a:t>usually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done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only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after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failure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occurs.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Lack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predictive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maintenance </a:t>
            </a:r>
            <a:r>
              <a:rPr dirty="0" sz="1150">
                <a:latin typeface="Times New Roman"/>
                <a:cs typeface="Times New Roman"/>
              </a:rPr>
              <a:t>technology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monitoring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leads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undetected </a:t>
            </a:r>
            <a:r>
              <a:rPr dirty="0" sz="1150">
                <a:latin typeface="Times New Roman"/>
                <a:cs typeface="Times New Roman"/>
              </a:rPr>
              <a:t>faults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equipment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damage.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48015" y="1378367"/>
            <a:ext cx="2214880" cy="4234180"/>
            <a:chOff x="7648015" y="1378367"/>
            <a:chExt cx="2214880" cy="4234180"/>
          </a:xfrm>
        </p:grpSpPr>
        <p:sp>
          <p:nvSpPr>
            <p:cNvPr id="22" name="object 22"/>
            <p:cNvSpPr/>
            <p:nvPr/>
          </p:nvSpPr>
          <p:spPr>
            <a:xfrm>
              <a:off x="7648015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826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39258" y="2253189"/>
            <a:ext cx="2026920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358140" marR="350520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Personal/Team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Connect</a:t>
            </a:r>
            <a:endParaRPr sz="15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engineering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students </a:t>
            </a:r>
            <a:r>
              <a:rPr dirty="0" sz="1150">
                <a:latin typeface="Times New Roman"/>
                <a:cs typeface="Times New Roman"/>
              </a:rPr>
              <a:t>interested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electrical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systems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technology,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want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>
                <a:latin typeface="Times New Roman"/>
                <a:cs typeface="Times New Roman"/>
              </a:rPr>
              <a:t>develop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smart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monitoring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can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detect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faults </a:t>
            </a:r>
            <a:r>
              <a:rPr dirty="0" sz="1150">
                <a:latin typeface="Times New Roman"/>
                <a:cs typeface="Times New Roman"/>
              </a:rPr>
              <a:t>early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prevent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equipment </a:t>
            </a:r>
            <a:r>
              <a:rPr dirty="0" sz="1150">
                <a:latin typeface="Times New Roman"/>
                <a:cs typeface="Times New Roman"/>
              </a:rPr>
              <a:t>damage.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Solving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problem </a:t>
            </a:r>
            <a:r>
              <a:rPr dirty="0" sz="1150">
                <a:latin typeface="Times New Roman"/>
                <a:cs typeface="Times New Roman"/>
              </a:rPr>
              <a:t>will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help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industries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reduce </a:t>
            </a:r>
            <a:r>
              <a:rPr dirty="0" sz="1150">
                <a:latin typeface="Times New Roman"/>
                <a:cs typeface="Times New Roman"/>
              </a:rPr>
              <a:t>losses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efficiency </a:t>
            </a:r>
            <a:r>
              <a:rPr dirty="0" sz="1150" spc="10">
                <a:latin typeface="Times New Roman"/>
                <a:cs typeface="Times New Roman"/>
              </a:rPr>
              <a:t>using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modern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technologies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like </a:t>
            </a:r>
            <a:r>
              <a:rPr dirty="0" sz="1150">
                <a:latin typeface="Times New Roman"/>
                <a:cs typeface="Times New Roman"/>
              </a:rPr>
              <a:t>AI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IoT.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567157"/>
            <a:ext cx="2849880" cy="22802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5557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endParaRPr sz="2300">
              <a:latin typeface="Times New Roman"/>
              <a:cs typeface="Times New Roman"/>
            </a:endParaRPr>
          </a:p>
          <a:p>
            <a:pPr marL="260350" marR="670560">
              <a:lnSpc>
                <a:spcPct val="94400"/>
              </a:lnSpc>
              <a:spcBef>
                <a:spcPts val="1730"/>
              </a:spcBef>
            </a:pPr>
            <a:r>
              <a:rPr dirty="0" sz="1500" spc="55">
                <a:solidFill>
                  <a:srgbClr val="FFFFFF"/>
                </a:solidFill>
                <a:latin typeface="Times New Roman"/>
                <a:cs typeface="Times New Roman"/>
              </a:rPr>
              <a:t>Low-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income</a:t>
            </a:r>
            <a:r>
              <a:rPr dirty="0" sz="15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Times New Roman"/>
                <a:cs typeface="Times New Roman"/>
              </a:rPr>
              <a:t>rural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individuals</a:t>
            </a:r>
            <a:r>
              <a:rPr dirty="0" sz="15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aged</a:t>
            </a:r>
            <a:r>
              <a:rPr dirty="0" sz="15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25-</a:t>
            </a:r>
            <a:r>
              <a:rPr dirty="0" sz="1500" spc="-25">
                <a:solidFill>
                  <a:srgbClr val="FFFFFF"/>
                </a:solidFill>
                <a:latin typeface="Times New Roman"/>
                <a:cs typeface="Times New Roman"/>
              </a:rPr>
              <a:t>55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seeking</a:t>
            </a:r>
            <a:r>
              <a:rPr dirty="0" sz="15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basic</a:t>
            </a:r>
            <a:r>
              <a:rPr dirty="0" sz="15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Times New Roman"/>
                <a:cs typeface="Times New Roman"/>
              </a:rPr>
              <a:t>legal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assistance</a:t>
            </a:r>
            <a:r>
              <a:rPr dirty="0" sz="15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5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regional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languages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957" y="1761060"/>
            <a:ext cx="3598940" cy="3892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6034" y="2567157"/>
            <a:ext cx="2849880" cy="228028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55575" rIns="0" bIns="0" rtlCol="0" vert="horz">
            <a:spAutoFit/>
          </a:bodyPr>
          <a:lstStyle/>
          <a:p>
            <a:pPr marL="1218565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Secondary</a:t>
            </a:r>
            <a:endParaRPr sz="2300">
              <a:latin typeface="Times New Roman"/>
              <a:cs typeface="Times New Roman"/>
            </a:endParaRPr>
          </a:p>
          <a:p>
            <a:pPr algn="r" marL="556260" marR="258445" indent="274320">
              <a:lnSpc>
                <a:spcPct val="94400"/>
              </a:lnSpc>
              <a:spcBef>
                <a:spcPts val="1730"/>
              </a:spcBef>
            </a:pP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NGOs</a:t>
            </a:r>
            <a:r>
              <a:rPr dirty="0" sz="15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5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5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imes New Roman"/>
                <a:cs typeface="Times New Roman"/>
              </a:rPr>
              <a:t>Aid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Organizations</a:t>
            </a:r>
            <a:r>
              <a:rPr dirty="0" sz="15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providing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free</a:t>
            </a:r>
            <a:r>
              <a:rPr dirty="0" sz="15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500" spc="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dirty="0" sz="1500" spc="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underprivileged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communities</a:t>
            </a:r>
            <a:r>
              <a:rPr dirty="0" sz="15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Times New Roman"/>
                <a:cs typeface="Times New Roman"/>
              </a:rPr>
              <a:t>(B2B)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Target</a:t>
            </a:r>
            <a:r>
              <a:rPr dirty="0" spc="105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Customer</a:t>
            </a:r>
            <a:r>
              <a:rPr dirty="0" spc="5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Segments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Customer</a:t>
            </a:r>
            <a:r>
              <a:rPr dirty="0" spc="125"/>
              <a:t> </a:t>
            </a:r>
            <a:r>
              <a:rPr dirty="0"/>
              <a:t>Segment</a:t>
            </a:r>
            <a:r>
              <a:rPr dirty="0" spc="180"/>
              <a:t> </a:t>
            </a:r>
            <a:r>
              <a:rPr dirty="0"/>
              <a:t>&amp;</a:t>
            </a:r>
            <a:r>
              <a:rPr dirty="0" spc="180"/>
              <a:t> </a:t>
            </a:r>
            <a:r>
              <a:rPr dirty="0" spc="-10"/>
              <a:t>Persona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6696" y="1899480"/>
            <a:ext cx="3257550" cy="152273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2875" rIns="0" bIns="0" rtlCol="0" vert="horz">
            <a:spAutoFit/>
          </a:bodyPr>
          <a:lstStyle/>
          <a:p>
            <a:pPr marL="850265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r>
              <a:rPr dirty="0" sz="1500" spc="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marL="262255" marR="260350" indent="125095">
              <a:lnSpc>
                <a:spcPts val="1410"/>
              </a:lnSpc>
              <a:spcBef>
                <a:spcPts val="1395"/>
              </a:spcBef>
            </a:pPr>
            <a:r>
              <a:rPr dirty="0" sz="1250" spc="50">
                <a:solidFill>
                  <a:srgbClr val="FFFFFF"/>
                </a:solidFill>
                <a:latin typeface="Times New Roman"/>
                <a:cs typeface="Times New Roman"/>
              </a:rPr>
              <a:t>Low-</a:t>
            </a:r>
            <a:r>
              <a:rPr dirty="0" sz="1250" spc="10">
                <a:solidFill>
                  <a:srgbClr val="FFFFFF"/>
                </a:solidFill>
                <a:latin typeface="Times New Roman"/>
                <a:cs typeface="Times New Roman"/>
              </a:rPr>
              <a:t>income</a:t>
            </a:r>
            <a:r>
              <a:rPr dirty="0" sz="125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imes New Roman"/>
                <a:cs typeface="Times New Roman"/>
              </a:rPr>
              <a:t>rural</a:t>
            </a:r>
            <a:r>
              <a:rPr dirty="0" sz="125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imes New Roman"/>
                <a:cs typeface="Times New Roman"/>
              </a:rPr>
              <a:t>individuals</a:t>
            </a:r>
            <a:r>
              <a:rPr dirty="0" sz="125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imes New Roman"/>
                <a:cs typeface="Times New Roman"/>
              </a:rPr>
              <a:t>aged </a:t>
            </a:r>
            <a:r>
              <a:rPr dirty="0" sz="1250" spc="50">
                <a:solidFill>
                  <a:srgbClr val="FFFFFF"/>
                </a:solidFill>
                <a:latin typeface="Times New Roman"/>
                <a:cs typeface="Times New Roman"/>
              </a:rPr>
              <a:t>25-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55</a:t>
            </a:r>
            <a:r>
              <a:rPr dirty="0" sz="125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seeking</a:t>
            </a:r>
            <a:r>
              <a:rPr dirty="0" sz="125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basic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25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assistance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1250">
              <a:latin typeface="Times New Roman"/>
              <a:cs typeface="Times New Roman"/>
            </a:endParaRPr>
          </a:p>
          <a:p>
            <a:pPr marL="963930">
              <a:lnSpc>
                <a:spcPts val="1380"/>
              </a:lnSpc>
            </a:pP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dirty="0" sz="125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Times New Roman"/>
                <a:cs typeface="Times New Roman"/>
              </a:rPr>
              <a:t>languages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696" y="3479106"/>
            <a:ext cx="3257550" cy="15151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42875" rIns="0" bIns="0" rtlCol="0" vert="horz">
            <a:spAutoFit/>
          </a:bodyPr>
          <a:lstStyle/>
          <a:p>
            <a:pPr marL="757555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Secondary</a:t>
            </a:r>
            <a:r>
              <a:rPr dirty="0" sz="1500" spc="114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algn="ctr" marL="353695" marR="351790">
              <a:lnSpc>
                <a:spcPts val="1410"/>
              </a:lnSpc>
              <a:spcBef>
                <a:spcPts val="1330"/>
              </a:spcBef>
            </a:pPr>
            <a:r>
              <a:rPr dirty="0" sz="1250">
                <a:latin typeface="Times New Roman"/>
                <a:cs typeface="Times New Roman"/>
              </a:rPr>
              <a:t>NGOs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Legal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Aid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Organizations </a:t>
            </a:r>
            <a:r>
              <a:rPr dirty="0" sz="1250" spc="45">
                <a:latin typeface="Times New Roman"/>
                <a:cs typeface="Times New Roman"/>
              </a:rPr>
              <a:t>providing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free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legal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services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to </a:t>
            </a:r>
            <a:r>
              <a:rPr dirty="0" sz="1250" spc="45">
                <a:latin typeface="Times New Roman"/>
                <a:cs typeface="Times New Roman"/>
              </a:rPr>
              <a:t>underprivileged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communities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(B2B)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8759" y="2241461"/>
            <a:ext cx="1221360" cy="12213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98942" y="3555973"/>
            <a:ext cx="2655570" cy="1242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1720"/>
              </a:lnSpc>
              <a:spcBef>
                <a:spcPts val="135"/>
              </a:spcBef>
            </a:pPr>
            <a:r>
              <a:rPr dirty="0" sz="1500" b="1">
                <a:solidFill>
                  <a:srgbClr val="F16629"/>
                </a:solidFill>
                <a:latin typeface="Times New Roman"/>
                <a:cs typeface="Times New Roman"/>
              </a:rPr>
              <a:t>Arun</a:t>
            </a:r>
            <a:r>
              <a:rPr dirty="0" sz="1500" spc="2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Kumar</a:t>
            </a:r>
            <a:endParaRPr sz="1500">
              <a:latin typeface="Times New Roman"/>
              <a:cs typeface="Times New Roman"/>
            </a:endParaRPr>
          </a:p>
          <a:p>
            <a:pPr algn="ctr" marL="431800" marR="424180">
              <a:lnSpc>
                <a:spcPts val="154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Age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years: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28 </a:t>
            </a:r>
            <a:r>
              <a:rPr dirty="0" sz="1400" b="1">
                <a:latin typeface="Times New Roman"/>
                <a:cs typeface="Times New Roman"/>
              </a:rPr>
              <a:t>Location:</a:t>
            </a:r>
            <a:r>
              <a:rPr dirty="0" sz="1400" spc="3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Small</a:t>
            </a:r>
            <a:r>
              <a:rPr dirty="0" sz="1400" spc="3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Town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470"/>
              </a:lnSpc>
            </a:pPr>
            <a:r>
              <a:rPr dirty="0" sz="1400" spc="10" b="1">
                <a:latin typeface="Times New Roman"/>
                <a:cs typeface="Times New Roman"/>
              </a:rPr>
              <a:t>Organizational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10" b="1">
                <a:latin typeface="Times New Roman"/>
                <a:cs typeface="Times New Roman"/>
              </a:rPr>
              <a:t>Role: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{Persona's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570"/>
              </a:lnSpc>
            </a:pPr>
            <a:r>
              <a:rPr dirty="0" sz="1400" b="1">
                <a:latin typeface="Times New Roman"/>
                <a:cs typeface="Times New Roman"/>
              </a:rPr>
              <a:t>primary</a:t>
            </a:r>
            <a:r>
              <a:rPr dirty="0" sz="1400" spc="35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role}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(if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applicable)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6745" y="2269473"/>
            <a:ext cx="62674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0">
                <a:latin typeface="Times New Roman"/>
                <a:cs typeface="Times New Roman"/>
              </a:rPr>
              <a:t>Persona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8751" y="2607881"/>
            <a:ext cx="1775460" cy="163195"/>
          </a:xfrm>
          <a:custGeom>
            <a:avLst/>
            <a:gdLst/>
            <a:ahLst/>
            <a:cxnLst/>
            <a:rect l="l" t="t" r="r" b="b"/>
            <a:pathLst>
              <a:path w="1775460" h="163194">
                <a:moveTo>
                  <a:pt x="1628482" y="73279"/>
                </a:moveTo>
                <a:lnTo>
                  <a:pt x="0" y="73279"/>
                </a:lnTo>
                <a:lnTo>
                  <a:pt x="0" y="97701"/>
                </a:lnTo>
                <a:lnTo>
                  <a:pt x="1628482" y="97701"/>
                </a:lnTo>
                <a:lnTo>
                  <a:pt x="1628482" y="73279"/>
                </a:lnTo>
                <a:close/>
              </a:path>
              <a:path w="1775460" h="163194">
                <a:moveTo>
                  <a:pt x="1775053" y="81419"/>
                </a:moveTo>
                <a:lnTo>
                  <a:pt x="1652917" y="0"/>
                </a:lnTo>
                <a:lnTo>
                  <a:pt x="1652917" y="162839"/>
                </a:lnTo>
                <a:lnTo>
                  <a:pt x="1775053" y="8141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120" y="1288800"/>
            <a:ext cx="9413240" cy="16510"/>
          </a:xfrm>
          <a:custGeom>
            <a:avLst/>
            <a:gdLst/>
            <a:ahLst/>
            <a:cxnLst/>
            <a:rect l="l" t="t" r="r" b="b"/>
            <a:pathLst>
              <a:path w="9413240" h="16509">
                <a:moveTo>
                  <a:pt x="9412614" y="16284"/>
                </a:moveTo>
                <a:lnTo>
                  <a:pt x="0" y="16284"/>
                </a:lnTo>
                <a:lnTo>
                  <a:pt x="0" y="0"/>
                </a:lnTo>
                <a:lnTo>
                  <a:pt x="9412614" y="0"/>
                </a:lnTo>
                <a:lnTo>
                  <a:pt x="9412614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281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Customer</a:t>
            </a:r>
            <a:r>
              <a:rPr dirty="0" spc="-13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Profile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647" y="678121"/>
            <a:ext cx="977088" cy="5129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8120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Education: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College pass </a:t>
            </a:r>
            <a:r>
              <a:rPr dirty="0" sz="1150" spc="-25">
                <a:solidFill>
                  <a:srgbClr val="FFFFFF"/>
                </a:solidFill>
                <a:latin typeface="Arial"/>
                <a:cs typeface="Arial"/>
              </a:rPr>
              <a:t>out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Gender: </a:t>
            </a:r>
            <a:r>
              <a:rPr dirty="0" sz="1150" spc="-20">
                <a:solidFill>
                  <a:srgbClr val="FFFFFF"/>
                </a:solidFill>
                <a:latin typeface="Arial"/>
                <a:cs typeface="Arial"/>
              </a:rPr>
              <a:t>Male</a:t>
            </a:r>
            <a:endParaRPr sz="1150">
              <a:latin typeface="Arial"/>
              <a:cs typeface="Arial"/>
            </a:endParaRPr>
          </a:p>
          <a:p>
            <a:pPr marL="194945" marR="1270000">
              <a:lnSpc>
                <a:spcPct val="232300"/>
              </a:lnSpc>
              <a:spcBef>
                <a:spcPts val="65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Occupation: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Works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private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Interests/Hobbies: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Gaming and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Entertainment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Primary Source of Information: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Social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7276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6680" rIns="0" bIns="0" rtlCol="0" vert="horz">
            <a:spAutoFit/>
          </a:bodyPr>
          <a:lstStyle/>
          <a:p>
            <a:pPr marL="194945" marR="1973580">
              <a:lnSpc>
                <a:spcPct val="234600"/>
              </a:lnSpc>
              <a:spcBef>
                <a:spcPts val="84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Shopping Preference: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Hybrid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Comfort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Technology: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Medium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 Social Media: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Youtube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Offline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Gathering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Spots: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Malls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Jobs-to-be-</a:t>
            </a:r>
            <a:r>
              <a:rPr dirty="0" spc="-20"/>
              <a:t>Done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980905"/>
            <a:ext cx="2931795" cy="2849880"/>
            <a:chOff x="857253" y="1980905"/>
            <a:chExt cx="2931795" cy="2849880"/>
          </a:xfrm>
        </p:grpSpPr>
        <p:sp>
          <p:nvSpPr>
            <p:cNvPr id="5" name="object 5"/>
            <p:cNvSpPr/>
            <p:nvPr/>
          </p:nvSpPr>
          <p:spPr>
            <a:xfrm>
              <a:off x="857253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38144" y="2136888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61"/>
                  </a:lnTo>
                  <a:lnTo>
                    <a:pt x="175564" y="159156"/>
                  </a:lnTo>
                  <a:lnTo>
                    <a:pt x="168694" y="166027"/>
                  </a:lnTo>
                  <a:lnTo>
                    <a:pt x="136626" y="166027"/>
                  </a:lnTo>
                  <a:lnTo>
                    <a:pt x="129755" y="159156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394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394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394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20"/>
                  </a:lnTo>
                  <a:lnTo>
                    <a:pt x="212966" y="22898"/>
                  </a:lnTo>
                  <a:lnTo>
                    <a:pt x="211645" y="16268"/>
                  </a:lnTo>
                  <a:lnTo>
                    <a:pt x="205955" y="7772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22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22"/>
                  </a:lnTo>
                  <a:lnTo>
                    <a:pt x="116027" y="22898"/>
                  </a:lnTo>
                  <a:lnTo>
                    <a:pt x="189306" y="22898"/>
                  </a:lnTo>
                  <a:lnTo>
                    <a:pt x="190830" y="24422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72"/>
                  </a:lnTo>
                  <a:lnTo>
                    <a:pt x="93675" y="16268"/>
                  </a:lnTo>
                  <a:lnTo>
                    <a:pt x="91592" y="26720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394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394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7253" y="1980905"/>
            <a:ext cx="2931795" cy="28498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20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Functional</a:t>
            </a:r>
            <a:r>
              <a:rPr dirty="0" sz="1400" spc="4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228600">
              <a:lnSpc>
                <a:spcPts val="1280"/>
              </a:lnSpc>
            </a:pPr>
            <a:r>
              <a:rPr dirty="0" sz="1150">
                <a:latin typeface="Times New Roman"/>
                <a:cs typeface="Times New Roman"/>
              </a:rPr>
              <a:t>Understand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rights,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file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complaints,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government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schemes,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resolve </a:t>
            </a:r>
            <a:r>
              <a:rPr dirty="0" sz="1150">
                <a:latin typeface="Times New Roman"/>
                <a:cs typeface="Times New Roman"/>
              </a:rPr>
              <a:t>land/labor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disputes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without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expensive lawyers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18796" y="1980905"/>
            <a:ext cx="2931795" cy="2849880"/>
            <a:chOff x="3918796" y="1980905"/>
            <a:chExt cx="2931795" cy="2849880"/>
          </a:xfrm>
        </p:grpSpPr>
        <p:sp>
          <p:nvSpPr>
            <p:cNvPr id="9" name="object 9"/>
            <p:cNvSpPr/>
            <p:nvPr/>
          </p:nvSpPr>
          <p:spPr>
            <a:xfrm>
              <a:off x="3918796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26528" y="2123202"/>
              <a:ext cx="228600" cy="326390"/>
            </a:xfrm>
            <a:custGeom>
              <a:avLst/>
              <a:gdLst/>
              <a:ahLst/>
              <a:cxnLst/>
              <a:rect l="l" t="t" r="r" b="b"/>
              <a:pathLst>
                <a:path w="228600" h="326389">
                  <a:moveTo>
                    <a:pt x="114120" y="326086"/>
                  </a:moveTo>
                  <a:lnTo>
                    <a:pt x="96289" y="313483"/>
                  </a:lnTo>
                  <a:lnTo>
                    <a:pt x="57060" y="280541"/>
                  </a:lnTo>
                  <a:lnTo>
                    <a:pt x="17831" y="234565"/>
                  </a:lnTo>
                  <a:lnTo>
                    <a:pt x="0" y="182855"/>
                  </a:lnTo>
                  <a:lnTo>
                    <a:pt x="2401" y="167869"/>
                  </a:lnTo>
                  <a:lnTo>
                    <a:pt x="9085" y="153680"/>
                  </a:lnTo>
                  <a:lnTo>
                    <a:pt x="19274" y="141321"/>
                  </a:lnTo>
                  <a:lnTo>
                    <a:pt x="32187" y="131829"/>
                  </a:lnTo>
                  <a:lnTo>
                    <a:pt x="32187" y="83714"/>
                  </a:lnTo>
                  <a:lnTo>
                    <a:pt x="38626" y="51128"/>
                  </a:lnTo>
                  <a:lnTo>
                    <a:pt x="56185" y="24519"/>
                  </a:lnTo>
                  <a:lnTo>
                    <a:pt x="82228" y="6578"/>
                  </a:lnTo>
                  <a:lnTo>
                    <a:pt x="114120" y="0"/>
                  </a:lnTo>
                  <a:lnTo>
                    <a:pt x="146012" y="6578"/>
                  </a:lnTo>
                  <a:lnTo>
                    <a:pt x="171183" y="23918"/>
                  </a:lnTo>
                  <a:lnTo>
                    <a:pt x="114120" y="23918"/>
                  </a:lnTo>
                  <a:lnTo>
                    <a:pt x="91340" y="28617"/>
                  </a:lnTo>
                  <a:lnTo>
                    <a:pt x="72738" y="41432"/>
                  </a:lnTo>
                  <a:lnTo>
                    <a:pt x="60196" y="60438"/>
                  </a:lnTo>
                  <a:lnTo>
                    <a:pt x="55597" y="83714"/>
                  </a:lnTo>
                  <a:lnTo>
                    <a:pt x="55597" y="125212"/>
                  </a:lnTo>
                  <a:lnTo>
                    <a:pt x="70754" y="127240"/>
                  </a:lnTo>
                  <a:lnTo>
                    <a:pt x="85970" y="134769"/>
                  </a:lnTo>
                  <a:lnTo>
                    <a:pt x="100631" y="148622"/>
                  </a:lnTo>
                  <a:lnTo>
                    <a:pt x="114120" y="169620"/>
                  </a:lnTo>
                  <a:lnTo>
                    <a:pt x="223478" y="169620"/>
                  </a:lnTo>
                  <a:lnTo>
                    <a:pt x="228198" y="182855"/>
                  </a:lnTo>
                  <a:lnTo>
                    <a:pt x="223970" y="195342"/>
                  </a:lnTo>
                  <a:lnTo>
                    <a:pt x="112719" y="195342"/>
                  </a:lnTo>
                  <a:lnTo>
                    <a:pt x="104032" y="197640"/>
                  </a:lnTo>
                  <a:lnTo>
                    <a:pt x="96821" y="203099"/>
                  </a:lnTo>
                  <a:lnTo>
                    <a:pt x="92049" y="211250"/>
                  </a:lnTo>
                  <a:lnTo>
                    <a:pt x="90747" y="220655"/>
                  </a:lnTo>
                  <a:lnTo>
                    <a:pt x="92997" y="229531"/>
                  </a:lnTo>
                  <a:lnTo>
                    <a:pt x="98340" y="236898"/>
                  </a:lnTo>
                  <a:lnTo>
                    <a:pt x="106317" y="241774"/>
                  </a:lnTo>
                  <a:lnTo>
                    <a:pt x="106317" y="263101"/>
                  </a:lnTo>
                  <a:lnTo>
                    <a:pt x="186085" y="263101"/>
                  </a:lnTo>
                  <a:lnTo>
                    <a:pt x="171193" y="280541"/>
                  </a:lnTo>
                  <a:lnTo>
                    <a:pt x="131954" y="313483"/>
                  </a:lnTo>
                  <a:lnTo>
                    <a:pt x="114120" y="326086"/>
                  </a:lnTo>
                  <a:close/>
                </a:path>
                <a:path w="228600" h="326389">
                  <a:moveTo>
                    <a:pt x="196053" y="99659"/>
                  </a:moveTo>
                  <a:lnTo>
                    <a:pt x="172644" y="99659"/>
                  </a:lnTo>
                  <a:lnTo>
                    <a:pt x="172644" y="83714"/>
                  </a:lnTo>
                  <a:lnTo>
                    <a:pt x="168045" y="60438"/>
                  </a:lnTo>
                  <a:lnTo>
                    <a:pt x="155503" y="41432"/>
                  </a:lnTo>
                  <a:lnTo>
                    <a:pt x="136900" y="28617"/>
                  </a:lnTo>
                  <a:lnTo>
                    <a:pt x="114120" y="23918"/>
                  </a:lnTo>
                  <a:lnTo>
                    <a:pt x="171183" y="23918"/>
                  </a:lnTo>
                  <a:lnTo>
                    <a:pt x="172056" y="24519"/>
                  </a:lnTo>
                  <a:lnTo>
                    <a:pt x="189615" y="51128"/>
                  </a:lnTo>
                  <a:lnTo>
                    <a:pt x="196053" y="83714"/>
                  </a:lnTo>
                  <a:lnTo>
                    <a:pt x="196053" y="99659"/>
                  </a:lnTo>
                  <a:close/>
                </a:path>
                <a:path w="228600" h="326389">
                  <a:moveTo>
                    <a:pt x="223478" y="169620"/>
                  </a:moveTo>
                  <a:lnTo>
                    <a:pt x="114120" y="169620"/>
                  </a:lnTo>
                  <a:lnTo>
                    <a:pt x="149794" y="130263"/>
                  </a:lnTo>
                  <a:lnTo>
                    <a:pt x="187041" y="127848"/>
                  </a:lnTo>
                  <a:lnTo>
                    <a:pt x="216357" y="149658"/>
                  </a:lnTo>
                  <a:lnTo>
                    <a:pt x="223478" y="169620"/>
                  </a:lnTo>
                  <a:close/>
                </a:path>
                <a:path w="228600" h="326389">
                  <a:moveTo>
                    <a:pt x="186085" y="263101"/>
                  </a:moveTo>
                  <a:lnTo>
                    <a:pt x="121923" y="263101"/>
                  </a:lnTo>
                  <a:lnTo>
                    <a:pt x="121923" y="241774"/>
                  </a:lnTo>
                  <a:lnTo>
                    <a:pt x="128590" y="239366"/>
                  </a:lnTo>
                  <a:lnTo>
                    <a:pt x="133834" y="234007"/>
                  </a:lnTo>
                  <a:lnTo>
                    <a:pt x="136191" y="227196"/>
                  </a:lnTo>
                  <a:lnTo>
                    <a:pt x="137494" y="217792"/>
                  </a:lnTo>
                  <a:lnTo>
                    <a:pt x="135244" y="208916"/>
                  </a:lnTo>
                  <a:lnTo>
                    <a:pt x="129901" y="201549"/>
                  </a:lnTo>
                  <a:lnTo>
                    <a:pt x="121923" y="196673"/>
                  </a:lnTo>
                  <a:lnTo>
                    <a:pt x="112719" y="195342"/>
                  </a:lnTo>
                  <a:lnTo>
                    <a:pt x="223970" y="195342"/>
                  </a:lnTo>
                  <a:lnTo>
                    <a:pt x="210427" y="234565"/>
                  </a:lnTo>
                  <a:lnTo>
                    <a:pt x="208460" y="236898"/>
                  </a:lnTo>
                  <a:lnTo>
                    <a:pt x="186085" y="263101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18796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Emotional</a:t>
            </a:r>
            <a:r>
              <a:rPr dirty="0" sz="1400" spc="44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220979">
              <a:lnSpc>
                <a:spcPts val="1280"/>
              </a:lnSpc>
            </a:pP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confident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about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rights,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reduce </a:t>
            </a:r>
            <a:r>
              <a:rPr dirty="0" sz="1150">
                <a:latin typeface="Times New Roman"/>
                <a:cs typeface="Times New Roman"/>
              </a:rPr>
              <a:t>fear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situations,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empowered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not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helpless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80338" y="1980905"/>
            <a:ext cx="2931795" cy="2849880"/>
            <a:chOff x="6980338" y="1980905"/>
            <a:chExt cx="2931795" cy="2849880"/>
          </a:xfrm>
        </p:grpSpPr>
        <p:sp>
          <p:nvSpPr>
            <p:cNvPr id="13" name="object 13"/>
            <p:cNvSpPr/>
            <p:nvPr/>
          </p:nvSpPr>
          <p:spPr>
            <a:xfrm>
              <a:off x="6980338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5742" y="2150718"/>
              <a:ext cx="266822" cy="27105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980338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Social</a:t>
            </a:r>
            <a:r>
              <a:rPr dirty="0" sz="1400" spc="30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271780">
              <a:lnSpc>
                <a:spcPts val="1280"/>
              </a:lnSpc>
            </a:pPr>
            <a:r>
              <a:rPr dirty="0" sz="1150">
                <a:latin typeface="Times New Roman"/>
                <a:cs typeface="Times New Roman"/>
              </a:rPr>
              <a:t>Gain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respect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community,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help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family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issues,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stand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up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against </a:t>
            </a:r>
            <a:r>
              <a:rPr dirty="0" sz="1150">
                <a:latin typeface="Times New Roman"/>
                <a:cs typeface="Times New Roman"/>
              </a:rPr>
              <a:t>injustice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confidently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96" y="1117810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Current</a:t>
            </a:r>
            <a:r>
              <a:rPr dirty="0" spc="35"/>
              <a:t> </a:t>
            </a:r>
            <a:r>
              <a:rPr dirty="0" spc="-10"/>
              <a:t>Alternatives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705578" y="1419079"/>
            <a:ext cx="757555" cy="757555"/>
            <a:chOff x="2705578" y="1419079"/>
            <a:chExt cx="757555" cy="757555"/>
          </a:xfrm>
        </p:grpSpPr>
        <p:sp>
          <p:nvSpPr>
            <p:cNvPr id="6" name="object 6"/>
            <p:cNvSpPr/>
            <p:nvPr/>
          </p:nvSpPr>
          <p:spPr>
            <a:xfrm>
              <a:off x="2705578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718" y="1484218"/>
              <a:ext cx="597183" cy="6049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07401" y="2302043"/>
            <a:ext cx="3660775" cy="986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30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>
                <a:latin typeface="Times New Roman"/>
                <a:cs typeface="Times New Roman"/>
              </a:rPr>
              <a:t>Asks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village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elders,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consults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paid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lawyers,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visits </a:t>
            </a:r>
            <a:r>
              <a:rPr dirty="0" sz="1250" spc="45">
                <a:latin typeface="Times New Roman"/>
                <a:cs typeface="Times New Roman"/>
              </a:rPr>
              <a:t>government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offices,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seeks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help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from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NGOs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or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local </a:t>
            </a:r>
            <a:r>
              <a:rPr dirty="0" sz="1250" spc="35">
                <a:latin typeface="Times New Roman"/>
                <a:cs typeface="Times New Roman"/>
              </a:rPr>
              <a:t>politicians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40895" y="1419079"/>
            <a:ext cx="757555" cy="757555"/>
            <a:chOff x="7240895" y="1419079"/>
            <a:chExt cx="757555" cy="757555"/>
          </a:xfrm>
        </p:grpSpPr>
        <p:sp>
          <p:nvSpPr>
            <p:cNvPr id="10" name="object 10"/>
            <p:cNvSpPr/>
            <p:nvPr/>
          </p:nvSpPr>
          <p:spPr>
            <a:xfrm>
              <a:off x="7240895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6747" y="1565642"/>
              <a:ext cx="545541" cy="46411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34576" y="2302043"/>
            <a:ext cx="4025900" cy="11658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b="1">
                <a:latin typeface="Times New Roman"/>
                <a:cs typeface="Times New Roman"/>
              </a:rPr>
              <a:t>Gaps</a:t>
            </a:r>
            <a:r>
              <a:rPr dirty="0" sz="1500" spc="19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</a:t>
            </a:r>
            <a:r>
              <a:rPr dirty="0" sz="1500" spc="195" b="1">
                <a:latin typeface="Times New Roman"/>
                <a:cs typeface="Times New Roman"/>
              </a:rPr>
              <a:t> </a:t>
            </a: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85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>
                <a:latin typeface="Times New Roman"/>
                <a:cs typeface="Times New Roman"/>
              </a:rPr>
              <a:t>Village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elders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give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wrong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advice,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lawyers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are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expensive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far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away,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government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offices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require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multiple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visits, </a:t>
            </a:r>
            <a:r>
              <a:rPr dirty="0" sz="1250">
                <a:latin typeface="Times New Roman"/>
                <a:cs typeface="Times New Roman"/>
              </a:rPr>
              <a:t>NGOs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have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limited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reach,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all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information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is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in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English </a:t>
            </a:r>
            <a:r>
              <a:rPr dirty="0" sz="1250" spc="-20">
                <a:latin typeface="Times New Roman"/>
                <a:cs typeface="Times New Roman"/>
              </a:rPr>
              <a:t>only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60000" y="2697436"/>
            <a:ext cx="16510" cy="1221740"/>
          </a:xfrm>
          <a:custGeom>
            <a:avLst/>
            <a:gdLst/>
            <a:ahLst/>
            <a:cxnLst/>
            <a:rect l="l" t="t" r="r" b="b"/>
            <a:pathLst>
              <a:path w="16510" h="1221739">
                <a:moveTo>
                  <a:pt x="16284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16284" y="0"/>
                </a:lnTo>
                <a:lnTo>
                  <a:pt x="16284" y="122135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81" y="1761060"/>
            <a:ext cx="3598940" cy="38920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11922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marL="260350" marR="365125">
              <a:lnSpc>
                <a:spcPts val="1540"/>
              </a:lnSpc>
              <a:spcBef>
                <a:spcPts val="1610"/>
              </a:spcBef>
            </a:pP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AI-powered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multilingual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chatbot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accessible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dirty="0" sz="1400" spc="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WhatsApp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answers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basic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queries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Indian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languages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1922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dirty="0" sz="18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Technologies/</a:t>
            </a:r>
            <a:r>
              <a:rPr dirty="0" sz="1800" spc="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Methodologies</a:t>
            </a:r>
            <a:endParaRPr sz="1800">
              <a:latin typeface="Times New Roman"/>
              <a:cs typeface="Times New Roman"/>
            </a:endParaRPr>
          </a:p>
          <a:p>
            <a:pPr marL="260350" marR="330200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Python,</a:t>
            </a:r>
            <a:r>
              <a:rPr dirty="0" sz="14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NLP,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Dialogflow,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Google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Translate</a:t>
            </a:r>
            <a:r>
              <a:rPr dirty="0" sz="14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API,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WhatsApp</a:t>
            </a:r>
            <a:r>
              <a:rPr dirty="0" sz="14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Business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API,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MongoDB,</a:t>
            </a:r>
            <a:r>
              <a:rPr dirty="0" sz="14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AWS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Our</a:t>
            </a:r>
            <a:r>
              <a:rPr dirty="0" spc="6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Solution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4553" y="4606342"/>
            <a:ext cx="2455545" cy="579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b="1">
                <a:latin typeface="Times New Roman"/>
                <a:cs typeface="Times New Roman"/>
              </a:rPr>
              <a:t>Solution</a:t>
            </a:r>
            <a:r>
              <a:rPr dirty="0" sz="1250" spc="44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Format: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80"/>
              </a:spcBef>
            </a:pPr>
            <a:r>
              <a:rPr dirty="0" sz="1250" spc="50">
                <a:latin typeface="Times New Roman"/>
                <a:cs typeface="Times New Roman"/>
              </a:rPr>
              <a:t>AI-</a:t>
            </a:r>
            <a:r>
              <a:rPr dirty="0" sz="1250" spc="45">
                <a:latin typeface="Times New Roman"/>
                <a:cs typeface="Times New Roman"/>
              </a:rPr>
              <a:t>powered</a:t>
            </a:r>
            <a:r>
              <a:rPr dirty="0" sz="1250" spc="11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chatbot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accessible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via </a:t>
            </a:r>
            <a:r>
              <a:rPr dirty="0" sz="1250">
                <a:latin typeface="Times New Roman"/>
                <a:cs typeface="Times New Roman"/>
              </a:rPr>
              <a:t>mobile</a:t>
            </a:r>
            <a:r>
              <a:rPr dirty="0" sz="1250" spc="36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app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9507" y="4961023"/>
            <a:ext cx="16510" cy="407670"/>
          </a:xfrm>
          <a:custGeom>
            <a:avLst/>
            <a:gdLst/>
            <a:ahLst/>
            <a:cxnLst/>
            <a:rect l="l" t="t" r="r" b="b"/>
            <a:pathLst>
              <a:path w="16510" h="407670">
                <a:moveTo>
                  <a:pt x="16284" y="407119"/>
                </a:moveTo>
                <a:lnTo>
                  <a:pt x="0" y="407119"/>
                </a:lnTo>
                <a:lnTo>
                  <a:pt x="0" y="0"/>
                </a:lnTo>
                <a:lnTo>
                  <a:pt x="16284" y="0"/>
                </a:lnTo>
                <a:lnTo>
                  <a:pt x="16284" y="40711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20978" y="4606342"/>
            <a:ext cx="5280660" cy="579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spc="10" b="1">
                <a:latin typeface="Times New Roman"/>
                <a:cs typeface="Times New Roman"/>
              </a:rPr>
              <a:t>Core</a:t>
            </a:r>
            <a:r>
              <a:rPr dirty="0" sz="1250" spc="310" b="1">
                <a:latin typeface="Times New Roman"/>
                <a:cs typeface="Times New Roman"/>
              </a:rPr>
              <a:t> </a:t>
            </a:r>
            <a:r>
              <a:rPr dirty="0" sz="1250" spc="10" b="1">
                <a:latin typeface="Times New Roman"/>
                <a:cs typeface="Times New Roman"/>
              </a:rPr>
              <a:t>Technologies/</a:t>
            </a:r>
            <a:r>
              <a:rPr dirty="0" sz="1250" spc="35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Methodologies: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80"/>
              </a:spcBef>
            </a:pPr>
            <a:r>
              <a:rPr dirty="0" sz="1250" spc="10">
                <a:latin typeface="Times New Roman"/>
                <a:cs typeface="Times New Roman"/>
              </a:rPr>
              <a:t>Python,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NLP,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Dialogflow,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Google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Translate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API,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WhatsApp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Business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API, </a:t>
            </a:r>
            <a:r>
              <a:rPr dirty="0" sz="1250" spc="45">
                <a:latin typeface="Times New Roman"/>
                <a:cs typeface="Times New Roman"/>
              </a:rPr>
              <a:t>MongoDB,</a:t>
            </a:r>
            <a:r>
              <a:rPr dirty="0" sz="1250" spc="5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AWS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7253" y="1378367"/>
            <a:ext cx="2972435" cy="2849880"/>
            <a:chOff x="857253" y="1378367"/>
            <a:chExt cx="2972435" cy="2849880"/>
          </a:xfrm>
        </p:grpSpPr>
        <p:sp>
          <p:nvSpPr>
            <p:cNvPr id="8" name="object 8"/>
            <p:cNvSpPr/>
            <p:nvPr/>
          </p:nvSpPr>
          <p:spPr>
            <a:xfrm>
              <a:off x="857253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5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32038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21" y="288950"/>
                  </a:lnTo>
                  <a:lnTo>
                    <a:pt x="783259" y="251333"/>
                  </a:lnTo>
                  <a:lnTo>
                    <a:pt x="766178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46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73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1717" y="157021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218517" y="386763"/>
                  </a:moveTo>
                  <a:lnTo>
                    <a:pt x="136336" y="304582"/>
                  </a:lnTo>
                  <a:lnTo>
                    <a:pt x="125398" y="300798"/>
                  </a:lnTo>
                  <a:lnTo>
                    <a:pt x="114097" y="306576"/>
                  </a:lnTo>
                  <a:lnTo>
                    <a:pt x="105333" y="318246"/>
                  </a:lnTo>
                  <a:lnTo>
                    <a:pt x="102007" y="332136"/>
                  </a:lnTo>
                  <a:lnTo>
                    <a:pt x="95777" y="352042"/>
                  </a:lnTo>
                  <a:lnTo>
                    <a:pt x="79347" y="363018"/>
                  </a:lnTo>
                  <a:lnTo>
                    <a:pt x="58295" y="363750"/>
                  </a:lnTo>
                  <a:lnTo>
                    <a:pt x="38195" y="352924"/>
                  </a:lnTo>
                  <a:lnTo>
                    <a:pt x="34808" y="349545"/>
                  </a:lnTo>
                  <a:lnTo>
                    <a:pt x="23831" y="329290"/>
                  </a:lnTo>
                  <a:lnTo>
                    <a:pt x="24232" y="307904"/>
                  </a:lnTo>
                  <a:lnTo>
                    <a:pt x="34876" y="291141"/>
                  </a:lnTo>
                  <a:lnTo>
                    <a:pt x="54627" y="284756"/>
                  </a:lnTo>
                  <a:lnTo>
                    <a:pt x="68522" y="281435"/>
                  </a:lnTo>
                  <a:lnTo>
                    <a:pt x="80194" y="272673"/>
                  </a:lnTo>
                  <a:lnTo>
                    <a:pt x="85973" y="261373"/>
                  </a:lnTo>
                  <a:lnTo>
                    <a:pt x="82189" y="250435"/>
                  </a:lnTo>
                  <a:lnTo>
                    <a:pt x="0" y="168246"/>
                  </a:lnTo>
                  <a:lnTo>
                    <a:pt x="58495" y="109262"/>
                  </a:lnTo>
                  <a:lnTo>
                    <a:pt x="69436" y="105478"/>
                  </a:lnTo>
                  <a:lnTo>
                    <a:pt x="80736" y="111257"/>
                  </a:lnTo>
                  <a:lnTo>
                    <a:pt x="89498" y="122929"/>
                  </a:lnTo>
                  <a:lnTo>
                    <a:pt x="92823" y="136824"/>
                  </a:lnTo>
                  <a:lnTo>
                    <a:pt x="99205" y="156575"/>
                  </a:lnTo>
                  <a:lnTo>
                    <a:pt x="115968" y="167219"/>
                  </a:lnTo>
                  <a:lnTo>
                    <a:pt x="137353" y="167620"/>
                  </a:lnTo>
                  <a:lnTo>
                    <a:pt x="157604" y="156643"/>
                  </a:lnTo>
                  <a:lnTo>
                    <a:pt x="160991" y="153256"/>
                  </a:lnTo>
                  <a:lnTo>
                    <a:pt x="171813" y="133156"/>
                  </a:lnTo>
                  <a:lnTo>
                    <a:pt x="171079" y="112104"/>
                  </a:lnTo>
                  <a:lnTo>
                    <a:pt x="160105" y="95675"/>
                  </a:lnTo>
                  <a:lnTo>
                    <a:pt x="140203" y="89444"/>
                  </a:lnTo>
                  <a:lnTo>
                    <a:pt x="126308" y="86118"/>
                  </a:lnTo>
                  <a:lnTo>
                    <a:pt x="114636" y="77354"/>
                  </a:lnTo>
                  <a:lnTo>
                    <a:pt x="108857" y="66053"/>
                  </a:lnTo>
                  <a:lnTo>
                    <a:pt x="112641" y="55115"/>
                  </a:lnTo>
                  <a:lnTo>
                    <a:pt x="168246" y="0"/>
                  </a:lnTo>
                  <a:lnTo>
                    <a:pt x="250427" y="82189"/>
                  </a:lnTo>
                  <a:lnTo>
                    <a:pt x="261365" y="85973"/>
                  </a:lnTo>
                  <a:lnTo>
                    <a:pt x="272666" y="80195"/>
                  </a:lnTo>
                  <a:lnTo>
                    <a:pt x="281430" y="68525"/>
                  </a:lnTo>
                  <a:lnTo>
                    <a:pt x="284756" y="54635"/>
                  </a:lnTo>
                  <a:lnTo>
                    <a:pt x="290986" y="34729"/>
                  </a:lnTo>
                  <a:lnTo>
                    <a:pt x="307416" y="23753"/>
                  </a:lnTo>
                  <a:lnTo>
                    <a:pt x="328468" y="23021"/>
                  </a:lnTo>
                  <a:lnTo>
                    <a:pt x="348568" y="33847"/>
                  </a:lnTo>
                  <a:lnTo>
                    <a:pt x="351955" y="37227"/>
                  </a:lnTo>
                  <a:lnTo>
                    <a:pt x="362932" y="57481"/>
                  </a:lnTo>
                  <a:lnTo>
                    <a:pt x="362531" y="78867"/>
                  </a:lnTo>
                  <a:lnTo>
                    <a:pt x="351887" y="95630"/>
                  </a:lnTo>
                  <a:lnTo>
                    <a:pt x="332136" y="102016"/>
                  </a:lnTo>
                  <a:lnTo>
                    <a:pt x="318241" y="105337"/>
                  </a:lnTo>
                  <a:lnTo>
                    <a:pt x="306569" y="114098"/>
                  </a:lnTo>
                  <a:lnTo>
                    <a:pt x="300790" y="125398"/>
                  </a:lnTo>
                  <a:lnTo>
                    <a:pt x="304574" y="136336"/>
                  </a:lnTo>
                  <a:lnTo>
                    <a:pt x="386763" y="218525"/>
                  </a:lnTo>
                  <a:lnTo>
                    <a:pt x="331648" y="273641"/>
                  </a:lnTo>
                  <a:lnTo>
                    <a:pt x="320710" y="277425"/>
                  </a:lnTo>
                  <a:lnTo>
                    <a:pt x="309410" y="271646"/>
                  </a:lnTo>
                  <a:lnTo>
                    <a:pt x="300648" y="259974"/>
                  </a:lnTo>
                  <a:lnTo>
                    <a:pt x="297327" y="246079"/>
                  </a:lnTo>
                  <a:lnTo>
                    <a:pt x="290941" y="226328"/>
                  </a:lnTo>
                  <a:lnTo>
                    <a:pt x="274179" y="215685"/>
                  </a:lnTo>
                  <a:lnTo>
                    <a:pt x="252793" y="215284"/>
                  </a:lnTo>
                  <a:lnTo>
                    <a:pt x="232538" y="226261"/>
                  </a:lnTo>
                  <a:lnTo>
                    <a:pt x="229159" y="229648"/>
                  </a:lnTo>
                  <a:lnTo>
                    <a:pt x="218333" y="249747"/>
                  </a:lnTo>
                  <a:lnTo>
                    <a:pt x="219065" y="270799"/>
                  </a:lnTo>
                  <a:lnTo>
                    <a:pt x="230041" y="287229"/>
                  </a:lnTo>
                  <a:lnTo>
                    <a:pt x="249947" y="293460"/>
                  </a:lnTo>
                  <a:lnTo>
                    <a:pt x="264040" y="296785"/>
                  </a:lnTo>
                  <a:lnTo>
                    <a:pt x="275687" y="305549"/>
                  </a:lnTo>
                  <a:lnTo>
                    <a:pt x="281352" y="316850"/>
                  </a:lnTo>
                  <a:lnTo>
                    <a:pt x="277501" y="327788"/>
                  </a:lnTo>
                  <a:lnTo>
                    <a:pt x="218517" y="38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7253" y="2310185"/>
            <a:ext cx="297243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algn="ctr" marL="128270" marR="129539">
              <a:lnSpc>
                <a:spcPts val="1410"/>
              </a:lnSpc>
              <a:spcBef>
                <a:spcPts val="1395"/>
              </a:spcBef>
            </a:pPr>
            <a:r>
              <a:rPr dirty="0" sz="1250" spc="50">
                <a:latin typeface="Times New Roman"/>
                <a:cs typeface="Times New Roman"/>
              </a:rPr>
              <a:t>AI-</a:t>
            </a:r>
            <a:r>
              <a:rPr dirty="0" sz="1250" spc="45">
                <a:latin typeface="Times New Roman"/>
                <a:cs typeface="Times New Roman"/>
              </a:rPr>
              <a:t>powered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multilingual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legal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chatbot </a:t>
            </a:r>
            <a:r>
              <a:rPr dirty="0" sz="1250" spc="45">
                <a:latin typeface="Times New Roman"/>
                <a:cs typeface="Times New Roman"/>
              </a:rPr>
              <a:t>accessible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via</a:t>
            </a:r>
            <a:r>
              <a:rPr dirty="0" sz="1250" spc="229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mobile</a:t>
            </a:r>
            <a:r>
              <a:rPr dirty="0" sz="1250" spc="229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app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50">
                <a:latin typeface="Times New Roman"/>
                <a:cs typeface="Times New Roman"/>
              </a:rPr>
              <a:t>WhatsApp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that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answers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basic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legal </a:t>
            </a:r>
            <a:r>
              <a:rPr dirty="0" sz="1250" spc="45">
                <a:latin typeface="Times New Roman"/>
                <a:cs typeface="Times New Roman"/>
              </a:rPr>
              <a:t>queries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in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regional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Indian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languages </a:t>
            </a:r>
            <a:r>
              <a:rPr dirty="0" sz="1250" spc="45">
                <a:latin typeface="Times New Roman"/>
                <a:cs typeface="Times New Roman"/>
              </a:rPr>
              <a:t>through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text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voice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input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78084" y="1378367"/>
            <a:ext cx="2964180" cy="2849880"/>
            <a:chOff x="3878084" y="1378367"/>
            <a:chExt cx="2964180" cy="2849880"/>
          </a:xfrm>
        </p:grpSpPr>
        <p:sp>
          <p:nvSpPr>
            <p:cNvPr id="13" name="object 13"/>
            <p:cNvSpPr/>
            <p:nvPr/>
          </p:nvSpPr>
          <p:spPr>
            <a:xfrm>
              <a:off x="3878084" y="1785487"/>
              <a:ext cx="2964180" cy="2442845"/>
            </a:xfrm>
            <a:custGeom>
              <a:avLst/>
              <a:gdLst/>
              <a:ahLst/>
              <a:cxnLst/>
              <a:rect l="l" t="t" r="r" b="b"/>
              <a:pathLst>
                <a:path w="2964179" h="2442845">
                  <a:moveTo>
                    <a:pt x="2963833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63833" y="0"/>
                  </a:lnTo>
                  <a:lnTo>
                    <a:pt x="2963833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2873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06060" y="1579422"/>
              <a:ext cx="300355" cy="387350"/>
            </a:xfrm>
            <a:custGeom>
              <a:avLst/>
              <a:gdLst/>
              <a:ahLst/>
              <a:cxnLst/>
              <a:rect l="l" t="t" r="r" b="b"/>
              <a:pathLst>
                <a:path w="300354" h="387350">
                  <a:moveTo>
                    <a:pt x="241719" y="305054"/>
                  </a:moveTo>
                  <a:lnTo>
                    <a:pt x="159537" y="305054"/>
                  </a:lnTo>
                  <a:lnTo>
                    <a:pt x="159537" y="324383"/>
                  </a:lnTo>
                  <a:lnTo>
                    <a:pt x="241719" y="324383"/>
                  </a:lnTo>
                  <a:lnTo>
                    <a:pt x="241719" y="305054"/>
                  </a:lnTo>
                  <a:close/>
                </a:path>
                <a:path w="300354" h="387350">
                  <a:moveTo>
                    <a:pt x="241719" y="227698"/>
                  </a:moveTo>
                  <a:lnTo>
                    <a:pt x="159537" y="227698"/>
                  </a:lnTo>
                  <a:lnTo>
                    <a:pt x="159537" y="247040"/>
                  </a:lnTo>
                  <a:lnTo>
                    <a:pt x="241719" y="247040"/>
                  </a:lnTo>
                  <a:lnTo>
                    <a:pt x="241719" y="227698"/>
                  </a:lnTo>
                  <a:close/>
                </a:path>
                <a:path w="300354" h="387350">
                  <a:moveTo>
                    <a:pt x="241719" y="150342"/>
                  </a:moveTo>
                  <a:lnTo>
                    <a:pt x="159537" y="150342"/>
                  </a:lnTo>
                  <a:lnTo>
                    <a:pt x="159537" y="169684"/>
                  </a:lnTo>
                  <a:lnTo>
                    <a:pt x="241719" y="169684"/>
                  </a:lnTo>
                  <a:lnTo>
                    <a:pt x="241719" y="150342"/>
                  </a:lnTo>
                  <a:close/>
                </a:path>
                <a:path w="300354" h="387350">
                  <a:moveTo>
                    <a:pt x="241719" y="72986"/>
                  </a:moveTo>
                  <a:lnTo>
                    <a:pt x="159537" y="72986"/>
                  </a:lnTo>
                  <a:lnTo>
                    <a:pt x="159537" y="92329"/>
                  </a:lnTo>
                  <a:lnTo>
                    <a:pt x="241719" y="92329"/>
                  </a:lnTo>
                  <a:lnTo>
                    <a:pt x="241719" y="72986"/>
                  </a:lnTo>
                  <a:close/>
                </a:path>
                <a:path w="300354" h="387350">
                  <a:moveTo>
                    <a:pt x="29973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358140"/>
                  </a:lnTo>
                  <a:lnTo>
                    <a:pt x="0" y="387350"/>
                  </a:lnTo>
                  <a:lnTo>
                    <a:pt x="299732" y="387350"/>
                  </a:lnTo>
                  <a:lnTo>
                    <a:pt x="299732" y="358241"/>
                  </a:lnTo>
                  <a:lnTo>
                    <a:pt x="299732" y="29476"/>
                  </a:lnTo>
                  <a:lnTo>
                    <a:pt x="270725" y="29476"/>
                  </a:lnTo>
                  <a:lnTo>
                    <a:pt x="270725" y="358140"/>
                  </a:lnTo>
                  <a:lnTo>
                    <a:pt x="28994" y="358140"/>
                  </a:lnTo>
                  <a:lnTo>
                    <a:pt x="28994" y="29210"/>
                  </a:lnTo>
                  <a:lnTo>
                    <a:pt x="299732" y="29210"/>
                  </a:lnTo>
                  <a:lnTo>
                    <a:pt x="299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4075" y="1628241"/>
              <a:ext cx="71547" cy="29006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135355" y="2310185"/>
            <a:ext cx="2443480" cy="10109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Key</a:t>
            </a:r>
            <a:r>
              <a:rPr dirty="0" sz="1800" spc="13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Features</a:t>
            </a:r>
            <a:endParaRPr sz="180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1395"/>
              </a:spcBef>
            </a:pPr>
            <a:r>
              <a:rPr dirty="0" sz="1250" spc="20">
                <a:latin typeface="Times New Roman"/>
                <a:cs typeface="Times New Roman"/>
              </a:rPr>
              <a:t>Multilingual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support,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voice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&amp;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text </a:t>
            </a:r>
            <a:r>
              <a:rPr dirty="0" sz="1250" spc="10">
                <a:latin typeface="Times New Roman"/>
                <a:cs typeface="Times New Roman"/>
              </a:rPr>
              <a:t>input,</a:t>
            </a:r>
            <a:r>
              <a:rPr dirty="0" sz="1250" spc="33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legal</a:t>
            </a:r>
            <a:r>
              <a:rPr dirty="0" sz="1250" spc="33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guidance,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 spc="40">
                <a:latin typeface="Times New Roman"/>
                <a:cs typeface="Times New Roman"/>
              </a:rPr>
              <a:t>WhatsApp </a:t>
            </a:r>
            <a:r>
              <a:rPr dirty="0" sz="1250" spc="45">
                <a:latin typeface="Times New Roman"/>
                <a:cs typeface="Times New Roman"/>
              </a:rPr>
              <a:t>integration,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offline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FAQ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90772" y="1378367"/>
            <a:ext cx="2972435" cy="2849880"/>
            <a:chOff x="6890772" y="1378367"/>
            <a:chExt cx="2972435" cy="2849880"/>
          </a:xfrm>
        </p:grpSpPr>
        <p:sp>
          <p:nvSpPr>
            <p:cNvPr id="19" name="object 19"/>
            <p:cNvSpPr/>
            <p:nvPr/>
          </p:nvSpPr>
          <p:spPr>
            <a:xfrm>
              <a:off x="6890772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4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371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90772" y="2310185"/>
            <a:ext cx="297243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Uniqueness</a:t>
            </a:r>
            <a:endParaRPr sz="1800">
              <a:latin typeface="Times New Roman"/>
              <a:cs typeface="Times New Roman"/>
            </a:endParaRPr>
          </a:p>
          <a:p>
            <a:pPr algn="ctr" marL="206375" marR="201295" indent="-635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First</a:t>
            </a:r>
            <a:r>
              <a:rPr dirty="0" sz="1250" spc="10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legal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assistant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trained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on </a:t>
            </a:r>
            <a:r>
              <a:rPr dirty="0" sz="1250" spc="10">
                <a:latin typeface="Times New Roman"/>
                <a:cs typeface="Times New Roman"/>
              </a:rPr>
              <a:t>Indian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laws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supporting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10+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regional </a:t>
            </a:r>
            <a:r>
              <a:rPr dirty="0" sz="1250" spc="45">
                <a:latin typeface="Times New Roman"/>
                <a:cs typeface="Times New Roman"/>
              </a:rPr>
              <a:t>languages,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accessible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via</a:t>
            </a:r>
            <a:r>
              <a:rPr dirty="0" sz="1250" spc="125">
                <a:latin typeface="Times New Roman"/>
                <a:cs typeface="Times New Roman"/>
              </a:rPr>
              <a:t> </a:t>
            </a:r>
            <a:r>
              <a:rPr dirty="0" sz="1250" spc="40">
                <a:latin typeface="Times New Roman"/>
                <a:cs typeface="Times New Roman"/>
              </a:rPr>
              <a:t>WhatsApp </a:t>
            </a:r>
            <a:r>
              <a:rPr dirty="0" sz="1250">
                <a:latin typeface="Times New Roman"/>
                <a:cs typeface="Times New Roman"/>
              </a:rPr>
              <a:t>without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downloading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any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app,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with </a:t>
            </a:r>
            <a:r>
              <a:rPr dirty="0" sz="1250" spc="10">
                <a:latin typeface="Times New Roman"/>
                <a:cs typeface="Times New Roman"/>
              </a:rPr>
              <a:t>voice</a:t>
            </a:r>
            <a:r>
              <a:rPr dirty="0" sz="1250" spc="28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input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for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illiterate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users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6975" y="1541215"/>
            <a:ext cx="2231390" cy="4234180"/>
            <a:chOff x="726975" y="1541215"/>
            <a:chExt cx="2231390" cy="4234180"/>
          </a:xfrm>
        </p:grpSpPr>
        <p:sp>
          <p:nvSpPr>
            <p:cNvPr id="5" name="object 5"/>
            <p:cNvSpPr/>
            <p:nvPr/>
          </p:nvSpPr>
          <p:spPr>
            <a:xfrm>
              <a:off x="726975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5354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93379" y="1803043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74"/>
                  </a:lnTo>
                  <a:lnTo>
                    <a:pt x="175564" y="159169"/>
                  </a:lnTo>
                  <a:lnTo>
                    <a:pt x="168694" y="166039"/>
                  </a:lnTo>
                  <a:lnTo>
                    <a:pt x="136626" y="166039"/>
                  </a:lnTo>
                  <a:lnTo>
                    <a:pt x="129755" y="159169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406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406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407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33"/>
                  </a:lnTo>
                  <a:lnTo>
                    <a:pt x="212966" y="22910"/>
                  </a:lnTo>
                  <a:lnTo>
                    <a:pt x="211645" y="16268"/>
                  </a:lnTo>
                  <a:lnTo>
                    <a:pt x="205955" y="7785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34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34"/>
                  </a:lnTo>
                  <a:lnTo>
                    <a:pt x="116027" y="22910"/>
                  </a:lnTo>
                  <a:lnTo>
                    <a:pt x="189306" y="22910"/>
                  </a:lnTo>
                  <a:lnTo>
                    <a:pt x="190830" y="24434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85"/>
                  </a:lnTo>
                  <a:lnTo>
                    <a:pt x="93675" y="16268"/>
                  </a:lnTo>
                  <a:lnTo>
                    <a:pt x="91592" y="26733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407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3153" y="2416037"/>
            <a:ext cx="1892935" cy="15367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69900" marR="462280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Functional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Get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instant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for </a:t>
            </a:r>
            <a:r>
              <a:rPr dirty="0" sz="1150">
                <a:latin typeface="Times New Roman"/>
                <a:cs typeface="Times New Roman"/>
              </a:rPr>
              <a:t>free,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understand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rights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in </a:t>
            </a:r>
            <a:r>
              <a:rPr dirty="0" sz="1150">
                <a:latin typeface="Times New Roman"/>
                <a:cs typeface="Times New Roman"/>
              </a:rPr>
              <a:t>local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language,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 </a:t>
            </a:r>
            <a:r>
              <a:rPr dirty="0" sz="1150">
                <a:latin typeface="Times New Roman"/>
                <a:cs typeface="Times New Roman"/>
              </a:rPr>
              <a:t>government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scheme </a:t>
            </a:r>
            <a:r>
              <a:rPr dirty="0" sz="1150" spc="10">
                <a:latin typeface="Times New Roman"/>
                <a:cs typeface="Times New Roman"/>
              </a:rPr>
              <a:t>information,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avoid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expensive </a:t>
            </a:r>
            <a:r>
              <a:rPr dirty="0" sz="1150">
                <a:latin typeface="Times New Roman"/>
                <a:cs typeface="Times New Roman"/>
              </a:rPr>
              <a:t>lawyer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fees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8271" y="1541215"/>
            <a:ext cx="2231390" cy="4234180"/>
            <a:chOff x="3088271" y="1541215"/>
            <a:chExt cx="2231390" cy="4234180"/>
          </a:xfrm>
        </p:grpSpPr>
        <p:sp>
          <p:nvSpPr>
            <p:cNvPr id="10" name="object 10"/>
            <p:cNvSpPr/>
            <p:nvPr/>
          </p:nvSpPr>
          <p:spPr>
            <a:xfrm>
              <a:off x="3088271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96652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1326" y="1751061"/>
              <a:ext cx="253365" cy="354330"/>
            </a:xfrm>
            <a:custGeom>
              <a:avLst/>
              <a:gdLst/>
              <a:ahLst/>
              <a:cxnLst/>
              <a:rect l="l" t="t" r="r" b="b"/>
              <a:pathLst>
                <a:path w="253364" h="354330">
                  <a:moveTo>
                    <a:pt x="126524" y="353836"/>
                  </a:moveTo>
                  <a:lnTo>
                    <a:pt x="106755" y="340160"/>
                  </a:lnTo>
                  <a:lnTo>
                    <a:pt x="63262" y="304414"/>
                  </a:lnTo>
                  <a:lnTo>
                    <a:pt x="19769" y="254524"/>
                  </a:lnTo>
                  <a:lnTo>
                    <a:pt x="45" y="198544"/>
                  </a:lnTo>
                  <a:lnTo>
                    <a:pt x="0" y="198414"/>
                  </a:lnTo>
                  <a:lnTo>
                    <a:pt x="2662" y="182154"/>
                  </a:lnTo>
                  <a:lnTo>
                    <a:pt x="10073" y="166757"/>
                  </a:lnTo>
                  <a:lnTo>
                    <a:pt x="21369" y="153346"/>
                  </a:lnTo>
                  <a:lnTo>
                    <a:pt x="35688" y="143045"/>
                  </a:lnTo>
                  <a:lnTo>
                    <a:pt x="35688" y="90836"/>
                  </a:lnTo>
                  <a:lnTo>
                    <a:pt x="42826" y="55479"/>
                  </a:lnTo>
                  <a:lnTo>
                    <a:pt x="62294" y="26606"/>
                  </a:lnTo>
                  <a:lnTo>
                    <a:pt x="91167" y="7138"/>
                  </a:lnTo>
                  <a:lnTo>
                    <a:pt x="126524" y="0"/>
                  </a:lnTo>
                  <a:lnTo>
                    <a:pt x="161881" y="7138"/>
                  </a:lnTo>
                  <a:lnTo>
                    <a:pt x="189781" y="25949"/>
                  </a:lnTo>
                  <a:lnTo>
                    <a:pt x="126524" y="25949"/>
                  </a:lnTo>
                  <a:lnTo>
                    <a:pt x="101268" y="31049"/>
                  </a:lnTo>
                  <a:lnTo>
                    <a:pt x="80643" y="44955"/>
                  </a:lnTo>
                  <a:lnTo>
                    <a:pt x="66737" y="65580"/>
                  </a:lnTo>
                  <a:lnTo>
                    <a:pt x="61638" y="90836"/>
                  </a:lnTo>
                  <a:lnTo>
                    <a:pt x="61638" y="135849"/>
                  </a:lnTo>
                  <a:lnTo>
                    <a:pt x="78445" y="138067"/>
                  </a:lnTo>
                  <a:lnTo>
                    <a:pt x="95314" y="146239"/>
                  </a:lnTo>
                  <a:lnTo>
                    <a:pt x="111567" y="161272"/>
                  </a:lnTo>
                  <a:lnTo>
                    <a:pt x="126524" y="184058"/>
                  </a:lnTo>
                  <a:lnTo>
                    <a:pt x="248795" y="184058"/>
                  </a:lnTo>
                  <a:lnTo>
                    <a:pt x="253011" y="198414"/>
                  </a:lnTo>
                  <a:lnTo>
                    <a:pt x="253049" y="198544"/>
                  </a:lnTo>
                  <a:lnTo>
                    <a:pt x="248313" y="211966"/>
                  </a:lnTo>
                  <a:lnTo>
                    <a:pt x="124971" y="211966"/>
                  </a:lnTo>
                  <a:lnTo>
                    <a:pt x="115341" y="214460"/>
                  </a:lnTo>
                  <a:lnTo>
                    <a:pt x="107347" y="220383"/>
                  </a:lnTo>
                  <a:lnTo>
                    <a:pt x="102056" y="229224"/>
                  </a:lnTo>
                  <a:lnTo>
                    <a:pt x="100611" y="239430"/>
                  </a:lnTo>
                  <a:lnTo>
                    <a:pt x="103106" y="249062"/>
                  </a:lnTo>
                  <a:lnTo>
                    <a:pt x="109031" y="257056"/>
                  </a:lnTo>
                  <a:lnTo>
                    <a:pt x="117877" y="262348"/>
                  </a:lnTo>
                  <a:lnTo>
                    <a:pt x="117877" y="285488"/>
                  </a:lnTo>
                  <a:lnTo>
                    <a:pt x="206313" y="285488"/>
                  </a:lnTo>
                  <a:lnTo>
                    <a:pt x="189801" y="304414"/>
                  </a:lnTo>
                  <a:lnTo>
                    <a:pt x="146296" y="340160"/>
                  </a:lnTo>
                  <a:lnTo>
                    <a:pt x="126524" y="353836"/>
                  </a:lnTo>
                  <a:close/>
                </a:path>
                <a:path w="253364" h="354330">
                  <a:moveTo>
                    <a:pt x="217361" y="108139"/>
                  </a:moveTo>
                  <a:lnTo>
                    <a:pt x="191411" y="108139"/>
                  </a:lnTo>
                  <a:lnTo>
                    <a:pt x="191411" y="90836"/>
                  </a:lnTo>
                  <a:lnTo>
                    <a:pt x="186312" y="65580"/>
                  </a:lnTo>
                  <a:lnTo>
                    <a:pt x="172406" y="44955"/>
                  </a:lnTo>
                  <a:lnTo>
                    <a:pt x="151781" y="31049"/>
                  </a:lnTo>
                  <a:lnTo>
                    <a:pt x="126524" y="25949"/>
                  </a:lnTo>
                  <a:lnTo>
                    <a:pt x="189781" y="25949"/>
                  </a:lnTo>
                  <a:lnTo>
                    <a:pt x="190755" y="26606"/>
                  </a:lnTo>
                  <a:lnTo>
                    <a:pt x="210222" y="55479"/>
                  </a:lnTo>
                  <a:lnTo>
                    <a:pt x="217361" y="90836"/>
                  </a:lnTo>
                  <a:lnTo>
                    <a:pt x="217361" y="108139"/>
                  </a:lnTo>
                  <a:close/>
                </a:path>
                <a:path w="253364" h="354330">
                  <a:moveTo>
                    <a:pt x="248795" y="184058"/>
                  </a:moveTo>
                  <a:lnTo>
                    <a:pt x="126524" y="184058"/>
                  </a:lnTo>
                  <a:lnTo>
                    <a:pt x="157702" y="146239"/>
                  </a:lnTo>
                  <a:lnTo>
                    <a:pt x="191318" y="135849"/>
                  </a:lnTo>
                  <a:lnTo>
                    <a:pt x="222017" y="145812"/>
                  </a:lnTo>
                  <a:lnTo>
                    <a:pt x="244392" y="169065"/>
                  </a:lnTo>
                  <a:lnTo>
                    <a:pt x="248795" y="184058"/>
                  </a:lnTo>
                  <a:close/>
                </a:path>
                <a:path w="253364" h="354330">
                  <a:moveTo>
                    <a:pt x="206313" y="285488"/>
                  </a:moveTo>
                  <a:lnTo>
                    <a:pt x="135172" y="285488"/>
                  </a:lnTo>
                  <a:lnTo>
                    <a:pt x="135172" y="262348"/>
                  </a:lnTo>
                  <a:lnTo>
                    <a:pt x="142565" y="259734"/>
                  </a:lnTo>
                  <a:lnTo>
                    <a:pt x="148378" y="253920"/>
                  </a:lnTo>
                  <a:lnTo>
                    <a:pt x="150992" y="246527"/>
                  </a:lnTo>
                  <a:lnTo>
                    <a:pt x="152437" y="236326"/>
                  </a:lnTo>
                  <a:lnTo>
                    <a:pt x="149943" y="226696"/>
                  </a:lnTo>
                  <a:lnTo>
                    <a:pt x="144018" y="218703"/>
                  </a:lnTo>
                  <a:lnTo>
                    <a:pt x="135172" y="213412"/>
                  </a:lnTo>
                  <a:lnTo>
                    <a:pt x="124971" y="211966"/>
                  </a:lnTo>
                  <a:lnTo>
                    <a:pt x="248313" y="211966"/>
                  </a:lnTo>
                  <a:lnTo>
                    <a:pt x="233299" y="254524"/>
                  </a:lnTo>
                  <a:lnTo>
                    <a:pt x="231118" y="257056"/>
                  </a:lnTo>
                  <a:lnTo>
                    <a:pt x="206313" y="285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17680" y="2416037"/>
            <a:ext cx="1766570" cy="15367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25450" marR="418465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Emotional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confident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empowered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knowing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their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rights,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reduce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anxiety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fear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about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legal </a:t>
            </a:r>
            <a:r>
              <a:rPr dirty="0" sz="1150">
                <a:latin typeface="Times New Roman"/>
                <a:cs typeface="Times New Roman"/>
              </a:rPr>
              <a:t>situations,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equal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>
                <a:latin typeface="Times New Roman"/>
                <a:cs typeface="Times New Roman"/>
              </a:rPr>
              <a:t>educated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citizens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9567" y="1541215"/>
            <a:ext cx="2231390" cy="4234180"/>
            <a:chOff x="5449567" y="1541215"/>
            <a:chExt cx="2231390" cy="4234180"/>
          </a:xfrm>
        </p:grpSpPr>
        <p:sp>
          <p:nvSpPr>
            <p:cNvPr id="15" name="object 15"/>
            <p:cNvSpPr/>
            <p:nvPr/>
          </p:nvSpPr>
          <p:spPr>
            <a:xfrm>
              <a:off x="5449567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57950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42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4425" y="1761413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30987" y="173520"/>
                  </a:moveTo>
                  <a:lnTo>
                    <a:pt x="124675" y="170408"/>
                  </a:lnTo>
                  <a:lnTo>
                    <a:pt x="118706" y="166649"/>
                  </a:lnTo>
                  <a:lnTo>
                    <a:pt x="113157" y="162331"/>
                  </a:lnTo>
                  <a:lnTo>
                    <a:pt x="86868" y="207924"/>
                  </a:lnTo>
                  <a:lnTo>
                    <a:pt x="93789" y="209626"/>
                  </a:lnTo>
                  <a:lnTo>
                    <a:pt x="100469" y="212204"/>
                  </a:lnTo>
                  <a:lnTo>
                    <a:pt x="106743" y="215595"/>
                  </a:lnTo>
                  <a:lnTo>
                    <a:pt x="130987" y="173520"/>
                  </a:lnTo>
                  <a:close/>
                </a:path>
                <a:path w="358140" h="358139">
                  <a:moveTo>
                    <a:pt x="131470" y="291846"/>
                  </a:moveTo>
                  <a:lnTo>
                    <a:pt x="130810" y="288632"/>
                  </a:lnTo>
                  <a:lnTo>
                    <a:pt x="126301" y="266255"/>
                  </a:lnTo>
                  <a:lnTo>
                    <a:pt x="116497" y="251726"/>
                  </a:lnTo>
                  <a:lnTo>
                    <a:pt x="112204" y="245364"/>
                  </a:lnTo>
                  <a:lnTo>
                    <a:pt x="102577" y="238874"/>
                  </a:lnTo>
                  <a:lnTo>
                    <a:pt x="102577" y="308737"/>
                  </a:lnTo>
                  <a:lnTo>
                    <a:pt x="102539" y="325653"/>
                  </a:lnTo>
                  <a:lnTo>
                    <a:pt x="28917" y="325653"/>
                  </a:lnTo>
                  <a:lnTo>
                    <a:pt x="28981" y="308737"/>
                  </a:lnTo>
                  <a:lnTo>
                    <a:pt x="55778" y="293966"/>
                  </a:lnTo>
                  <a:lnTo>
                    <a:pt x="56007" y="293966"/>
                  </a:lnTo>
                  <a:lnTo>
                    <a:pt x="61061" y="293192"/>
                  </a:lnTo>
                  <a:lnTo>
                    <a:pt x="70929" y="293192"/>
                  </a:lnTo>
                  <a:lnTo>
                    <a:pt x="76047" y="293966"/>
                  </a:lnTo>
                  <a:lnTo>
                    <a:pt x="80975" y="295478"/>
                  </a:lnTo>
                  <a:lnTo>
                    <a:pt x="87503" y="297167"/>
                  </a:lnTo>
                  <a:lnTo>
                    <a:pt x="93624" y="300151"/>
                  </a:lnTo>
                  <a:lnTo>
                    <a:pt x="98958" y="304266"/>
                  </a:lnTo>
                  <a:lnTo>
                    <a:pt x="101219" y="306044"/>
                  </a:lnTo>
                  <a:lnTo>
                    <a:pt x="102577" y="308737"/>
                  </a:lnTo>
                  <a:lnTo>
                    <a:pt x="102577" y="238874"/>
                  </a:lnTo>
                  <a:lnTo>
                    <a:pt x="91313" y="231279"/>
                  </a:lnTo>
                  <a:lnTo>
                    <a:pt x="84239" y="229857"/>
                  </a:lnTo>
                  <a:lnTo>
                    <a:pt x="84239" y="270129"/>
                  </a:lnTo>
                  <a:lnTo>
                    <a:pt x="82804" y="277317"/>
                  </a:lnTo>
                  <a:lnTo>
                    <a:pt x="78867" y="283197"/>
                  </a:lnTo>
                  <a:lnTo>
                    <a:pt x="73012" y="287172"/>
                  </a:lnTo>
                  <a:lnTo>
                    <a:pt x="65836" y="288632"/>
                  </a:lnTo>
                  <a:lnTo>
                    <a:pt x="58445" y="287172"/>
                  </a:lnTo>
                  <a:lnTo>
                    <a:pt x="58585" y="287172"/>
                  </a:lnTo>
                  <a:lnTo>
                    <a:pt x="52717" y="283197"/>
                  </a:lnTo>
                  <a:lnTo>
                    <a:pt x="48768" y="277317"/>
                  </a:lnTo>
                  <a:lnTo>
                    <a:pt x="47345" y="270129"/>
                  </a:lnTo>
                  <a:lnTo>
                    <a:pt x="48806" y="262940"/>
                  </a:lnTo>
                  <a:lnTo>
                    <a:pt x="52781" y="257086"/>
                  </a:lnTo>
                  <a:lnTo>
                    <a:pt x="58724" y="253149"/>
                  </a:lnTo>
                  <a:lnTo>
                    <a:pt x="65735" y="251726"/>
                  </a:lnTo>
                  <a:lnTo>
                    <a:pt x="72923" y="253149"/>
                  </a:lnTo>
                  <a:lnTo>
                    <a:pt x="78790" y="257086"/>
                  </a:lnTo>
                  <a:lnTo>
                    <a:pt x="82765" y="262940"/>
                  </a:lnTo>
                  <a:lnTo>
                    <a:pt x="84239" y="270129"/>
                  </a:lnTo>
                  <a:lnTo>
                    <a:pt x="84239" y="229857"/>
                  </a:lnTo>
                  <a:lnTo>
                    <a:pt x="40144" y="231279"/>
                  </a:lnTo>
                  <a:lnTo>
                    <a:pt x="5156" y="266255"/>
                  </a:lnTo>
                  <a:lnTo>
                    <a:pt x="0" y="291846"/>
                  </a:lnTo>
                  <a:lnTo>
                    <a:pt x="5156" y="317436"/>
                  </a:lnTo>
                  <a:lnTo>
                    <a:pt x="19253" y="338328"/>
                  </a:lnTo>
                  <a:lnTo>
                    <a:pt x="40144" y="352412"/>
                  </a:lnTo>
                  <a:lnTo>
                    <a:pt x="65735" y="357581"/>
                  </a:lnTo>
                  <a:lnTo>
                    <a:pt x="91313" y="352412"/>
                  </a:lnTo>
                  <a:lnTo>
                    <a:pt x="112204" y="338328"/>
                  </a:lnTo>
                  <a:lnTo>
                    <a:pt x="120751" y="325653"/>
                  </a:lnTo>
                  <a:lnTo>
                    <a:pt x="126301" y="317436"/>
                  </a:lnTo>
                  <a:lnTo>
                    <a:pt x="131191" y="293192"/>
                  </a:lnTo>
                  <a:lnTo>
                    <a:pt x="131470" y="291846"/>
                  </a:lnTo>
                  <a:close/>
                </a:path>
                <a:path w="358140" h="358139">
                  <a:moveTo>
                    <a:pt x="206184" y="304990"/>
                  </a:moveTo>
                  <a:lnTo>
                    <a:pt x="205473" y="300647"/>
                  </a:lnTo>
                  <a:lnTo>
                    <a:pt x="205105" y="296252"/>
                  </a:lnTo>
                  <a:lnTo>
                    <a:pt x="205092" y="289217"/>
                  </a:lnTo>
                  <a:lnTo>
                    <a:pt x="205232" y="286575"/>
                  </a:lnTo>
                  <a:lnTo>
                    <a:pt x="205498" y="283959"/>
                  </a:lnTo>
                  <a:lnTo>
                    <a:pt x="152069" y="283959"/>
                  </a:lnTo>
                  <a:lnTo>
                    <a:pt x="152349" y="286575"/>
                  </a:lnTo>
                  <a:lnTo>
                    <a:pt x="152488" y="289217"/>
                  </a:lnTo>
                  <a:lnTo>
                    <a:pt x="152476" y="296252"/>
                  </a:lnTo>
                  <a:lnTo>
                    <a:pt x="152107" y="300647"/>
                  </a:lnTo>
                  <a:lnTo>
                    <a:pt x="151384" y="304990"/>
                  </a:lnTo>
                  <a:lnTo>
                    <a:pt x="206184" y="304990"/>
                  </a:lnTo>
                  <a:close/>
                </a:path>
                <a:path w="358140" h="358139">
                  <a:moveTo>
                    <a:pt x="257670" y="81495"/>
                  </a:moveTo>
                  <a:lnTo>
                    <a:pt x="256819" y="77292"/>
                  </a:lnTo>
                  <a:lnTo>
                    <a:pt x="251269" y="49771"/>
                  </a:lnTo>
                  <a:lnTo>
                    <a:pt x="238975" y="31546"/>
                  </a:lnTo>
                  <a:lnTo>
                    <a:pt x="233794" y="23863"/>
                  </a:lnTo>
                  <a:lnTo>
                    <a:pt x="221653" y="15684"/>
                  </a:lnTo>
                  <a:lnTo>
                    <a:pt x="221653" y="123253"/>
                  </a:lnTo>
                  <a:lnTo>
                    <a:pt x="130302" y="123253"/>
                  </a:lnTo>
                  <a:lnTo>
                    <a:pt x="149136" y="88011"/>
                  </a:lnTo>
                  <a:lnTo>
                    <a:pt x="163537" y="83832"/>
                  </a:lnTo>
                  <a:lnTo>
                    <a:pt x="163804" y="83832"/>
                  </a:lnTo>
                  <a:lnTo>
                    <a:pt x="170154" y="82880"/>
                  </a:lnTo>
                  <a:lnTo>
                    <a:pt x="182384" y="82880"/>
                  </a:lnTo>
                  <a:lnTo>
                    <a:pt x="188734" y="83832"/>
                  </a:lnTo>
                  <a:lnTo>
                    <a:pt x="194830" y="85712"/>
                  </a:lnTo>
                  <a:lnTo>
                    <a:pt x="202907" y="87807"/>
                  </a:lnTo>
                  <a:lnTo>
                    <a:pt x="221653" y="123253"/>
                  </a:lnTo>
                  <a:lnTo>
                    <a:pt x="221653" y="15684"/>
                  </a:lnTo>
                  <a:lnTo>
                    <a:pt x="207886" y="6400"/>
                  </a:lnTo>
                  <a:lnTo>
                    <a:pt x="198869" y="4584"/>
                  </a:lnTo>
                  <a:lnTo>
                    <a:pt x="198869" y="54419"/>
                  </a:lnTo>
                  <a:lnTo>
                    <a:pt x="197078" y="63322"/>
                  </a:lnTo>
                  <a:lnTo>
                    <a:pt x="192176" y="70599"/>
                  </a:lnTo>
                  <a:lnTo>
                    <a:pt x="184899" y="75488"/>
                  </a:lnTo>
                  <a:lnTo>
                    <a:pt x="176009" y="77292"/>
                  </a:lnTo>
                  <a:lnTo>
                    <a:pt x="167093" y="75488"/>
                  </a:lnTo>
                  <a:lnTo>
                    <a:pt x="159829" y="70599"/>
                  </a:lnTo>
                  <a:lnTo>
                    <a:pt x="154927" y="63322"/>
                  </a:lnTo>
                  <a:lnTo>
                    <a:pt x="153123" y="54419"/>
                  </a:lnTo>
                  <a:lnTo>
                    <a:pt x="154940" y="45516"/>
                  </a:lnTo>
                  <a:lnTo>
                    <a:pt x="159867" y="38239"/>
                  </a:lnTo>
                  <a:lnTo>
                    <a:pt x="167170" y="33337"/>
                  </a:lnTo>
                  <a:lnTo>
                    <a:pt x="176009" y="31546"/>
                  </a:lnTo>
                  <a:lnTo>
                    <a:pt x="184899" y="33337"/>
                  </a:lnTo>
                  <a:lnTo>
                    <a:pt x="192176" y="38239"/>
                  </a:lnTo>
                  <a:lnTo>
                    <a:pt x="197078" y="45516"/>
                  </a:lnTo>
                  <a:lnTo>
                    <a:pt x="198869" y="54419"/>
                  </a:lnTo>
                  <a:lnTo>
                    <a:pt x="198869" y="4584"/>
                  </a:lnTo>
                  <a:lnTo>
                    <a:pt x="144424" y="6400"/>
                  </a:lnTo>
                  <a:lnTo>
                    <a:pt x="101053" y="49771"/>
                  </a:lnTo>
                  <a:lnTo>
                    <a:pt x="94653" y="81495"/>
                  </a:lnTo>
                  <a:lnTo>
                    <a:pt x="101053" y="113233"/>
                  </a:lnTo>
                  <a:lnTo>
                    <a:pt x="118529" y="139141"/>
                  </a:lnTo>
                  <a:lnTo>
                    <a:pt x="144424" y="156603"/>
                  </a:lnTo>
                  <a:lnTo>
                    <a:pt x="176161" y="163004"/>
                  </a:lnTo>
                  <a:lnTo>
                    <a:pt x="207886" y="156603"/>
                  </a:lnTo>
                  <a:lnTo>
                    <a:pt x="233794" y="139141"/>
                  </a:lnTo>
                  <a:lnTo>
                    <a:pt x="244500" y="123253"/>
                  </a:lnTo>
                  <a:lnTo>
                    <a:pt x="251269" y="113233"/>
                  </a:lnTo>
                  <a:lnTo>
                    <a:pt x="257390" y="82880"/>
                  </a:lnTo>
                  <a:lnTo>
                    <a:pt x="257670" y="81495"/>
                  </a:lnTo>
                  <a:close/>
                </a:path>
                <a:path w="358140" h="358139">
                  <a:moveTo>
                    <a:pt x="266395" y="208965"/>
                  </a:moveTo>
                  <a:lnTo>
                    <a:pt x="239420" y="162229"/>
                  </a:lnTo>
                  <a:lnTo>
                    <a:pt x="233794" y="166598"/>
                  </a:lnTo>
                  <a:lnTo>
                    <a:pt x="227736" y="170395"/>
                  </a:lnTo>
                  <a:lnTo>
                    <a:pt x="221335" y="173520"/>
                  </a:lnTo>
                  <a:lnTo>
                    <a:pt x="247154" y="217754"/>
                  </a:lnTo>
                  <a:lnTo>
                    <a:pt x="253174" y="214045"/>
                  </a:lnTo>
                  <a:lnTo>
                    <a:pt x="259638" y="211099"/>
                  </a:lnTo>
                  <a:lnTo>
                    <a:pt x="266395" y="208965"/>
                  </a:lnTo>
                  <a:close/>
                </a:path>
                <a:path w="358140" h="358139">
                  <a:moveTo>
                    <a:pt x="357581" y="291846"/>
                  </a:moveTo>
                  <a:lnTo>
                    <a:pt x="342620" y="251726"/>
                  </a:lnTo>
                  <a:lnTo>
                    <a:pt x="328701" y="238874"/>
                  </a:lnTo>
                  <a:lnTo>
                    <a:pt x="328701" y="308737"/>
                  </a:lnTo>
                  <a:lnTo>
                    <a:pt x="328650" y="325653"/>
                  </a:lnTo>
                  <a:lnTo>
                    <a:pt x="255041" y="325653"/>
                  </a:lnTo>
                  <a:lnTo>
                    <a:pt x="255104" y="308737"/>
                  </a:lnTo>
                  <a:lnTo>
                    <a:pt x="281889" y="293966"/>
                  </a:lnTo>
                  <a:lnTo>
                    <a:pt x="282117" y="293966"/>
                  </a:lnTo>
                  <a:lnTo>
                    <a:pt x="287185" y="293192"/>
                  </a:lnTo>
                  <a:lnTo>
                    <a:pt x="297053" y="293192"/>
                  </a:lnTo>
                  <a:lnTo>
                    <a:pt x="302171" y="293966"/>
                  </a:lnTo>
                  <a:lnTo>
                    <a:pt x="307098" y="295478"/>
                  </a:lnTo>
                  <a:lnTo>
                    <a:pt x="313613" y="297167"/>
                  </a:lnTo>
                  <a:lnTo>
                    <a:pt x="319735" y="300151"/>
                  </a:lnTo>
                  <a:lnTo>
                    <a:pt x="325081" y="304266"/>
                  </a:lnTo>
                  <a:lnTo>
                    <a:pt x="327342" y="306044"/>
                  </a:lnTo>
                  <a:lnTo>
                    <a:pt x="328701" y="308737"/>
                  </a:lnTo>
                  <a:lnTo>
                    <a:pt x="328701" y="238874"/>
                  </a:lnTo>
                  <a:lnTo>
                    <a:pt x="317436" y="231279"/>
                  </a:lnTo>
                  <a:lnTo>
                    <a:pt x="310362" y="229857"/>
                  </a:lnTo>
                  <a:lnTo>
                    <a:pt x="310362" y="270129"/>
                  </a:lnTo>
                  <a:lnTo>
                    <a:pt x="308927" y="277317"/>
                  </a:lnTo>
                  <a:lnTo>
                    <a:pt x="304990" y="283197"/>
                  </a:lnTo>
                  <a:lnTo>
                    <a:pt x="299135" y="287172"/>
                  </a:lnTo>
                  <a:lnTo>
                    <a:pt x="291947" y="288632"/>
                  </a:lnTo>
                  <a:lnTo>
                    <a:pt x="284556" y="287172"/>
                  </a:lnTo>
                  <a:lnTo>
                    <a:pt x="284708" y="287172"/>
                  </a:lnTo>
                  <a:lnTo>
                    <a:pt x="278841" y="283197"/>
                  </a:lnTo>
                  <a:lnTo>
                    <a:pt x="274891" y="277317"/>
                  </a:lnTo>
                  <a:lnTo>
                    <a:pt x="273469" y="270129"/>
                  </a:lnTo>
                  <a:lnTo>
                    <a:pt x="274916" y="262940"/>
                  </a:lnTo>
                  <a:lnTo>
                    <a:pt x="278904" y="257086"/>
                  </a:lnTo>
                  <a:lnTo>
                    <a:pt x="284835" y="253149"/>
                  </a:lnTo>
                  <a:lnTo>
                    <a:pt x="291846" y="251726"/>
                  </a:lnTo>
                  <a:lnTo>
                    <a:pt x="299034" y="253149"/>
                  </a:lnTo>
                  <a:lnTo>
                    <a:pt x="304914" y="257086"/>
                  </a:lnTo>
                  <a:lnTo>
                    <a:pt x="308889" y="262940"/>
                  </a:lnTo>
                  <a:lnTo>
                    <a:pt x="310362" y="270129"/>
                  </a:lnTo>
                  <a:lnTo>
                    <a:pt x="310362" y="229857"/>
                  </a:lnTo>
                  <a:lnTo>
                    <a:pt x="266255" y="231279"/>
                  </a:lnTo>
                  <a:lnTo>
                    <a:pt x="231279" y="266255"/>
                  </a:lnTo>
                  <a:lnTo>
                    <a:pt x="226110" y="291846"/>
                  </a:lnTo>
                  <a:lnTo>
                    <a:pt x="231279" y="317436"/>
                  </a:lnTo>
                  <a:lnTo>
                    <a:pt x="245364" y="338328"/>
                  </a:lnTo>
                  <a:lnTo>
                    <a:pt x="266255" y="352412"/>
                  </a:lnTo>
                  <a:lnTo>
                    <a:pt x="291846" y="357581"/>
                  </a:lnTo>
                  <a:lnTo>
                    <a:pt x="317436" y="352412"/>
                  </a:lnTo>
                  <a:lnTo>
                    <a:pt x="338328" y="338328"/>
                  </a:lnTo>
                  <a:lnTo>
                    <a:pt x="346862" y="325653"/>
                  </a:lnTo>
                  <a:lnTo>
                    <a:pt x="352412" y="317436"/>
                  </a:lnTo>
                  <a:lnTo>
                    <a:pt x="357301" y="293192"/>
                  </a:lnTo>
                  <a:lnTo>
                    <a:pt x="357581" y="291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597425" y="2416037"/>
            <a:ext cx="1929764" cy="13741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607695" marR="600710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Social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>
              <a:lnSpc>
                <a:spcPct val="91800"/>
              </a:lnSpc>
              <a:spcBef>
                <a:spcPts val="670"/>
              </a:spcBef>
            </a:pPr>
            <a:r>
              <a:rPr dirty="0" sz="1150">
                <a:latin typeface="Times New Roman"/>
                <a:cs typeface="Times New Roman"/>
              </a:rPr>
              <a:t>Gain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respect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community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as </a:t>
            </a:r>
            <a:r>
              <a:rPr dirty="0" sz="1150">
                <a:latin typeface="Times New Roman"/>
                <a:cs typeface="Times New Roman"/>
              </a:rPr>
              <a:t>legally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aware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person,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help </a:t>
            </a:r>
            <a:r>
              <a:rPr dirty="0" sz="1150">
                <a:latin typeface="Times New Roman"/>
                <a:cs typeface="Times New Roman"/>
              </a:rPr>
              <a:t>family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neighbors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with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queries,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up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against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injustice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confidently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10863" y="1541215"/>
            <a:ext cx="2231390" cy="4234180"/>
            <a:chOff x="7810863" y="1541215"/>
            <a:chExt cx="2231390" cy="4234180"/>
          </a:xfrm>
        </p:grpSpPr>
        <p:sp>
          <p:nvSpPr>
            <p:cNvPr id="20" name="object 20"/>
            <p:cNvSpPr/>
            <p:nvPr/>
          </p:nvSpPr>
          <p:spPr>
            <a:xfrm>
              <a:off x="7810863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9252" y="1541215"/>
              <a:ext cx="814239" cy="8142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045998" y="2416037"/>
            <a:ext cx="1755139" cy="13741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520700" marR="513080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Macro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1800"/>
              </a:lnSpc>
              <a:spcBef>
                <a:spcPts val="670"/>
              </a:spcBef>
            </a:pPr>
            <a:r>
              <a:rPr dirty="0" sz="1150">
                <a:latin typeface="Times New Roman"/>
                <a:cs typeface="Times New Roman"/>
              </a:rPr>
              <a:t>Reduces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legal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inequality, </a:t>
            </a:r>
            <a:r>
              <a:rPr dirty="0" sz="1150">
                <a:latin typeface="Times New Roman"/>
                <a:cs typeface="Times New Roman"/>
              </a:rPr>
              <a:t>saves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lawyer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poor </a:t>
            </a:r>
            <a:r>
              <a:rPr dirty="0" sz="1150">
                <a:latin typeface="Times New Roman"/>
                <a:cs typeface="Times New Roman"/>
              </a:rPr>
              <a:t>families,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empowers </a:t>
            </a:r>
            <a:r>
              <a:rPr dirty="0" sz="1150">
                <a:latin typeface="Times New Roman"/>
                <a:cs typeface="Times New Roman"/>
              </a:rPr>
              <a:t>marginalized</a:t>
            </a:r>
            <a:r>
              <a:rPr dirty="0" sz="1150" spc="4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communities, </a:t>
            </a:r>
            <a:r>
              <a:rPr dirty="0" sz="1150">
                <a:latin typeface="Times New Roman"/>
                <a:cs typeface="Times New Roman"/>
              </a:rPr>
              <a:t>reduces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court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backlog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267" y="2583442"/>
            <a:ext cx="2239159" cy="22717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211922" y="1752917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11922" y="3137125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90057" y="1886780"/>
            <a:ext cx="4747895" cy="2675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Direct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NyaySetu,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Vakeel.ai,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LawRato,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Nyaaya.org</a:t>
            </a:r>
            <a:endParaRPr sz="1400">
              <a:latin typeface="Times New Roman"/>
              <a:cs typeface="Times New Roman"/>
            </a:endParaRPr>
          </a:p>
          <a:p>
            <a:pPr marL="12700" marR="53340">
              <a:lnSpc>
                <a:spcPts val="1540"/>
              </a:lnSpc>
              <a:spcBef>
                <a:spcPts val="95"/>
              </a:spcBef>
            </a:pPr>
            <a:r>
              <a:rPr dirty="0" sz="1400">
                <a:latin typeface="Times New Roman"/>
                <a:cs typeface="Times New Roman"/>
              </a:rPr>
              <a:t>DoNotPay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(USA),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Rocket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Lawyer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(USA),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LawDroid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(USA), </a:t>
            </a:r>
            <a:r>
              <a:rPr dirty="0" sz="1400">
                <a:latin typeface="Times New Roman"/>
                <a:cs typeface="Times New Roman"/>
              </a:rPr>
              <a:t>Joshua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(UK)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Indirect</a:t>
            </a:r>
            <a:endParaRPr sz="1800">
              <a:latin typeface="Times New Roman"/>
              <a:cs typeface="Times New Roman"/>
            </a:endParaRPr>
          </a:p>
          <a:p>
            <a:pPr marL="12700" marR="250825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latin typeface="Times New Roman"/>
                <a:cs typeface="Times New Roman"/>
              </a:rPr>
              <a:t>Legal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aid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NGOs,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NALSA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helpline,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paid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lawyers,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law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firm </a:t>
            </a:r>
            <a:r>
              <a:rPr dirty="0" sz="1400" spc="-10">
                <a:latin typeface="Times New Roman"/>
                <a:cs typeface="Times New Roman"/>
              </a:rPr>
              <a:t>websites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470"/>
              </a:lnSpc>
            </a:pP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Search,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ChatGPT,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Wikipedia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legal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pages,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LegalZoom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9"/>
              </a:lnSpc>
            </a:pPr>
            <a:r>
              <a:rPr dirty="0" sz="1400" spc="-10">
                <a:latin typeface="Times New Roman"/>
                <a:cs typeface="Times New Roman"/>
              </a:rPr>
              <a:t>(USA)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1922" y="4521333"/>
            <a:ext cx="5944235" cy="8959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317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Uniqueness</a:t>
            </a:r>
            <a:endParaRPr sz="1800">
              <a:latin typeface="Times New Roman"/>
              <a:cs typeface="Times New Roman"/>
            </a:endParaRPr>
          </a:p>
          <a:p>
            <a:pPr algn="ctr" marL="388620" marR="386715">
              <a:lnSpc>
                <a:spcPts val="1540"/>
              </a:lnSpc>
              <a:spcBef>
                <a:spcPts val="156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14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legal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assistant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trained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Indian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laws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supporting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10+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languages,</a:t>
            </a:r>
            <a:r>
              <a:rPr dirty="0" sz="1400" spc="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accessible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WhatsApp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dirty="0" sz="1400" spc="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downloading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BF0000"/>
                </a:solidFill>
              </a:rPr>
              <a:t>Competitors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755948" y="2046044"/>
            <a:ext cx="733425" cy="733425"/>
            <a:chOff x="3755948" y="2046044"/>
            <a:chExt cx="733425" cy="733425"/>
          </a:xfrm>
        </p:grpSpPr>
        <p:sp>
          <p:nvSpPr>
            <p:cNvPr id="10" name="object 10"/>
            <p:cNvSpPr/>
            <p:nvPr/>
          </p:nvSpPr>
          <p:spPr>
            <a:xfrm>
              <a:off x="3755948" y="2046044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81769" y="2244414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64090" y="3430252"/>
            <a:ext cx="733425" cy="733425"/>
            <a:chOff x="3764090" y="3430252"/>
            <a:chExt cx="733425" cy="733425"/>
          </a:xfrm>
        </p:grpSpPr>
        <p:sp>
          <p:nvSpPr>
            <p:cNvPr id="13" name="object 13"/>
            <p:cNvSpPr/>
            <p:nvPr/>
          </p:nvSpPr>
          <p:spPr>
            <a:xfrm>
              <a:off x="3764090" y="3430252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70272" y="3644495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29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29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105" y="3701548"/>
              <a:ext cx="185646" cy="21464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17" name="object 17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Competitors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541215"/>
            <a:ext cx="2165985" cy="3827145"/>
            <a:chOff x="857253" y="1541215"/>
            <a:chExt cx="2165985" cy="3827145"/>
          </a:xfrm>
        </p:grpSpPr>
        <p:sp>
          <p:nvSpPr>
            <p:cNvPr id="5" name="object 5"/>
            <p:cNvSpPr/>
            <p:nvPr/>
          </p:nvSpPr>
          <p:spPr>
            <a:xfrm>
              <a:off x="857253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3067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99606" y="1780297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58036" y="2473033"/>
            <a:ext cx="1558925" cy="10839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42875" marR="13589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60"/>
              </a:spcBef>
            </a:pPr>
            <a:r>
              <a:rPr dirty="0" sz="1250" spc="45">
                <a:latin typeface="Times New Roman"/>
                <a:cs typeface="Times New Roman"/>
              </a:rPr>
              <a:t>NyaySetu,</a:t>
            </a:r>
            <a:r>
              <a:rPr dirty="0" sz="1250" spc="9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Vakeel.ai, </a:t>
            </a:r>
            <a:r>
              <a:rPr dirty="0" sz="1250" spc="45">
                <a:latin typeface="Times New Roman"/>
                <a:cs typeface="Times New Roman"/>
              </a:rPr>
              <a:t>LawRato,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Nyaaya.org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53410" y="1541215"/>
            <a:ext cx="2165985" cy="3827145"/>
            <a:chOff x="3153410" y="1541215"/>
            <a:chExt cx="2165985" cy="3827145"/>
          </a:xfrm>
        </p:grpSpPr>
        <p:sp>
          <p:nvSpPr>
            <p:cNvPr id="10" name="object 10"/>
            <p:cNvSpPr/>
            <p:nvPr/>
          </p:nvSpPr>
          <p:spPr>
            <a:xfrm>
              <a:off x="3153410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29228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17" y="180936"/>
                  </a:lnTo>
                  <a:lnTo>
                    <a:pt x="721817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14" y="1955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12" y="20548"/>
                  </a:lnTo>
                  <a:lnTo>
                    <a:pt x="242125" y="34925"/>
                  </a:lnTo>
                  <a:lnTo>
                    <a:pt x="206438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35"/>
                  </a:lnTo>
                  <a:lnTo>
                    <a:pt x="417106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096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4266" y="1796170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30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2099" y="1853224"/>
              <a:ext cx="185646" cy="214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17935" y="2473033"/>
            <a:ext cx="1831339" cy="12636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78765" marR="27114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60"/>
              </a:spcBef>
            </a:pPr>
            <a:r>
              <a:rPr dirty="0" sz="1250">
                <a:latin typeface="Times New Roman"/>
                <a:cs typeface="Times New Roman"/>
              </a:rPr>
              <a:t>Legal</a:t>
            </a:r>
            <a:r>
              <a:rPr dirty="0" sz="1250" spc="2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aid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NGOs,</a:t>
            </a:r>
            <a:r>
              <a:rPr dirty="0" sz="1250" spc="28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NALSA </a:t>
            </a:r>
            <a:r>
              <a:rPr dirty="0" sz="1250" spc="45">
                <a:latin typeface="Times New Roman"/>
                <a:cs typeface="Times New Roman"/>
              </a:rPr>
              <a:t>helpline,</a:t>
            </a:r>
            <a:r>
              <a:rPr dirty="0" sz="1250" spc="1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paid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lawyers, </a:t>
            </a:r>
            <a:r>
              <a:rPr dirty="0" sz="1250">
                <a:latin typeface="Times New Roman"/>
                <a:cs typeface="Times New Roman"/>
              </a:rPr>
              <a:t>law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firm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websites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49567" y="1541215"/>
            <a:ext cx="2165985" cy="3827145"/>
            <a:chOff x="5449567" y="1541215"/>
            <a:chExt cx="2165985" cy="3827145"/>
          </a:xfrm>
        </p:grpSpPr>
        <p:sp>
          <p:nvSpPr>
            <p:cNvPr id="16" name="object 16"/>
            <p:cNvSpPr/>
            <p:nvPr/>
          </p:nvSpPr>
          <p:spPr>
            <a:xfrm>
              <a:off x="5449567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2537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59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5007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74219" y="1746046"/>
              <a:ext cx="357505" cy="377825"/>
            </a:xfrm>
            <a:custGeom>
              <a:avLst/>
              <a:gdLst/>
              <a:ahLst/>
              <a:cxnLst/>
              <a:rect l="l" t="t" r="r" b="b"/>
              <a:pathLst>
                <a:path w="357504" h="377825">
                  <a:moveTo>
                    <a:pt x="122923" y="231584"/>
                  </a:moveTo>
                  <a:lnTo>
                    <a:pt x="119583" y="217017"/>
                  </a:lnTo>
                  <a:lnTo>
                    <a:pt x="116967" y="211759"/>
                  </a:lnTo>
                  <a:lnTo>
                    <a:pt x="112890" y="203542"/>
                  </a:lnTo>
                  <a:lnTo>
                    <a:pt x="102844" y="192176"/>
                  </a:lnTo>
                  <a:lnTo>
                    <a:pt x="90525" y="183654"/>
                  </a:lnTo>
                  <a:lnTo>
                    <a:pt x="88226" y="182778"/>
                  </a:lnTo>
                  <a:lnTo>
                    <a:pt x="88226" y="238353"/>
                  </a:lnTo>
                  <a:lnTo>
                    <a:pt x="86118" y="248627"/>
                  </a:lnTo>
                  <a:lnTo>
                    <a:pt x="80378" y="257086"/>
                  </a:lnTo>
                  <a:lnTo>
                    <a:pt x="71907" y="262826"/>
                  </a:lnTo>
                  <a:lnTo>
                    <a:pt x="61633" y="264947"/>
                  </a:lnTo>
                  <a:lnTo>
                    <a:pt x="51371" y="262826"/>
                  </a:lnTo>
                  <a:lnTo>
                    <a:pt x="42913" y="257086"/>
                  </a:lnTo>
                  <a:lnTo>
                    <a:pt x="37172" y="248627"/>
                  </a:lnTo>
                  <a:lnTo>
                    <a:pt x="35052" y="238353"/>
                  </a:lnTo>
                  <a:lnTo>
                    <a:pt x="37172" y="228079"/>
                  </a:lnTo>
                  <a:lnTo>
                    <a:pt x="42913" y="219621"/>
                  </a:lnTo>
                  <a:lnTo>
                    <a:pt x="51371" y="213880"/>
                  </a:lnTo>
                  <a:lnTo>
                    <a:pt x="61633" y="211759"/>
                  </a:lnTo>
                  <a:lnTo>
                    <a:pt x="71907" y="213880"/>
                  </a:lnTo>
                  <a:lnTo>
                    <a:pt x="80378" y="219621"/>
                  </a:lnTo>
                  <a:lnTo>
                    <a:pt x="86118" y="228079"/>
                  </a:lnTo>
                  <a:lnTo>
                    <a:pt x="88226" y="238353"/>
                  </a:lnTo>
                  <a:lnTo>
                    <a:pt x="88226" y="182778"/>
                  </a:lnTo>
                  <a:lnTo>
                    <a:pt x="76581" y="178320"/>
                  </a:lnTo>
                  <a:lnTo>
                    <a:pt x="61633" y="176466"/>
                  </a:lnTo>
                  <a:lnTo>
                    <a:pt x="46697" y="178320"/>
                  </a:lnTo>
                  <a:lnTo>
                    <a:pt x="10401" y="203542"/>
                  </a:lnTo>
                  <a:lnTo>
                    <a:pt x="0" y="231584"/>
                  </a:lnTo>
                  <a:lnTo>
                    <a:pt x="88" y="238353"/>
                  </a:lnTo>
                  <a:lnTo>
                    <a:pt x="32143" y="322961"/>
                  </a:lnTo>
                  <a:lnTo>
                    <a:pt x="56324" y="373722"/>
                  </a:lnTo>
                  <a:lnTo>
                    <a:pt x="61633" y="377583"/>
                  </a:lnTo>
                  <a:lnTo>
                    <a:pt x="65506" y="375653"/>
                  </a:lnTo>
                  <a:lnTo>
                    <a:pt x="91135" y="322961"/>
                  </a:lnTo>
                  <a:lnTo>
                    <a:pt x="117424" y="264947"/>
                  </a:lnTo>
                  <a:lnTo>
                    <a:pt x="122821" y="246507"/>
                  </a:lnTo>
                  <a:lnTo>
                    <a:pt x="122923" y="231584"/>
                  </a:lnTo>
                  <a:close/>
                </a:path>
                <a:path w="357504" h="377825">
                  <a:moveTo>
                    <a:pt x="129324" y="348094"/>
                  </a:moveTo>
                  <a:lnTo>
                    <a:pt x="100317" y="348094"/>
                  </a:lnTo>
                  <a:lnTo>
                    <a:pt x="100317" y="377101"/>
                  </a:lnTo>
                  <a:lnTo>
                    <a:pt x="129324" y="377101"/>
                  </a:lnTo>
                  <a:lnTo>
                    <a:pt x="129324" y="348094"/>
                  </a:lnTo>
                  <a:close/>
                </a:path>
                <a:path w="357504" h="377825">
                  <a:moveTo>
                    <a:pt x="178638" y="376618"/>
                  </a:moveTo>
                  <a:lnTo>
                    <a:pt x="177673" y="347611"/>
                  </a:lnTo>
                  <a:lnTo>
                    <a:pt x="171030" y="347891"/>
                  </a:lnTo>
                  <a:lnTo>
                    <a:pt x="164134" y="348030"/>
                  </a:lnTo>
                  <a:lnTo>
                    <a:pt x="149148" y="348094"/>
                  </a:lnTo>
                  <a:lnTo>
                    <a:pt x="149148" y="377101"/>
                  </a:lnTo>
                  <a:lnTo>
                    <a:pt x="164439" y="377037"/>
                  </a:lnTo>
                  <a:lnTo>
                    <a:pt x="171653" y="376897"/>
                  </a:lnTo>
                  <a:lnTo>
                    <a:pt x="178638" y="376618"/>
                  </a:lnTo>
                  <a:close/>
                </a:path>
                <a:path w="357504" h="377825">
                  <a:moveTo>
                    <a:pt x="191693" y="194830"/>
                  </a:moveTo>
                  <a:lnTo>
                    <a:pt x="173799" y="172123"/>
                  </a:lnTo>
                  <a:lnTo>
                    <a:pt x="166154" y="179057"/>
                  </a:lnTo>
                  <a:lnTo>
                    <a:pt x="160083" y="187350"/>
                  </a:lnTo>
                  <a:lnTo>
                    <a:pt x="155930" y="196735"/>
                  </a:lnTo>
                  <a:lnTo>
                    <a:pt x="153987" y="206933"/>
                  </a:lnTo>
                  <a:lnTo>
                    <a:pt x="182981" y="208864"/>
                  </a:lnTo>
                  <a:lnTo>
                    <a:pt x="182981" y="202095"/>
                  </a:lnTo>
                  <a:lnTo>
                    <a:pt x="191693" y="194830"/>
                  </a:lnTo>
                  <a:close/>
                </a:path>
                <a:path w="357504" h="377825">
                  <a:moveTo>
                    <a:pt x="201841" y="229641"/>
                  </a:moveTo>
                  <a:lnTo>
                    <a:pt x="195554" y="227711"/>
                  </a:lnTo>
                  <a:lnTo>
                    <a:pt x="189268" y="223850"/>
                  </a:lnTo>
                  <a:lnTo>
                    <a:pt x="184924" y="218528"/>
                  </a:lnTo>
                  <a:lnTo>
                    <a:pt x="161226" y="234962"/>
                  </a:lnTo>
                  <a:lnTo>
                    <a:pt x="167551" y="241757"/>
                  </a:lnTo>
                  <a:lnTo>
                    <a:pt x="174764" y="247599"/>
                  </a:lnTo>
                  <a:lnTo>
                    <a:pt x="182714" y="252437"/>
                  </a:lnTo>
                  <a:lnTo>
                    <a:pt x="191211" y="256235"/>
                  </a:lnTo>
                  <a:lnTo>
                    <a:pt x="201841" y="229641"/>
                  </a:lnTo>
                  <a:close/>
                </a:path>
                <a:path w="357504" h="377825">
                  <a:moveTo>
                    <a:pt x="227469" y="373722"/>
                  </a:moveTo>
                  <a:lnTo>
                    <a:pt x="224574" y="344716"/>
                  </a:lnTo>
                  <a:lnTo>
                    <a:pt x="218147" y="345351"/>
                  </a:lnTo>
                  <a:lnTo>
                    <a:pt x="211277" y="345859"/>
                  </a:lnTo>
                  <a:lnTo>
                    <a:pt x="196532" y="346646"/>
                  </a:lnTo>
                  <a:lnTo>
                    <a:pt x="197980" y="375653"/>
                  </a:lnTo>
                  <a:lnTo>
                    <a:pt x="213448" y="374865"/>
                  </a:lnTo>
                  <a:lnTo>
                    <a:pt x="220687" y="374357"/>
                  </a:lnTo>
                  <a:lnTo>
                    <a:pt x="227469" y="373722"/>
                  </a:lnTo>
                  <a:close/>
                </a:path>
                <a:path w="357504" h="377825">
                  <a:moveTo>
                    <a:pt x="230365" y="178892"/>
                  </a:moveTo>
                  <a:lnTo>
                    <a:pt x="223596" y="150837"/>
                  </a:lnTo>
                  <a:lnTo>
                    <a:pt x="215988" y="152844"/>
                  </a:lnTo>
                  <a:lnTo>
                    <a:pt x="208432" y="155194"/>
                  </a:lnTo>
                  <a:lnTo>
                    <a:pt x="200964" y="157911"/>
                  </a:lnTo>
                  <a:lnTo>
                    <a:pt x="193624" y="160997"/>
                  </a:lnTo>
                  <a:lnTo>
                    <a:pt x="205232" y="187591"/>
                  </a:lnTo>
                  <a:lnTo>
                    <a:pt x="211404" y="185140"/>
                  </a:lnTo>
                  <a:lnTo>
                    <a:pt x="217614" y="182880"/>
                  </a:lnTo>
                  <a:lnTo>
                    <a:pt x="223926" y="180784"/>
                  </a:lnTo>
                  <a:lnTo>
                    <a:pt x="230365" y="178892"/>
                  </a:lnTo>
                  <a:close/>
                </a:path>
                <a:path w="357504" h="377825">
                  <a:moveTo>
                    <a:pt x="246316" y="242214"/>
                  </a:moveTo>
                  <a:lnTo>
                    <a:pt x="238582" y="240284"/>
                  </a:lnTo>
                  <a:lnTo>
                    <a:pt x="231813" y="238353"/>
                  </a:lnTo>
                  <a:lnTo>
                    <a:pt x="225044" y="236905"/>
                  </a:lnTo>
                  <a:lnTo>
                    <a:pt x="218757" y="234962"/>
                  </a:lnTo>
                  <a:lnTo>
                    <a:pt x="211023" y="263004"/>
                  </a:lnTo>
                  <a:lnTo>
                    <a:pt x="217792" y="264947"/>
                  </a:lnTo>
                  <a:lnTo>
                    <a:pt x="225044" y="266395"/>
                  </a:lnTo>
                  <a:lnTo>
                    <a:pt x="231813" y="268325"/>
                  </a:lnTo>
                  <a:lnTo>
                    <a:pt x="239547" y="270256"/>
                  </a:lnTo>
                  <a:lnTo>
                    <a:pt x="246316" y="242214"/>
                  </a:lnTo>
                  <a:close/>
                </a:path>
                <a:path w="357504" h="377825">
                  <a:moveTo>
                    <a:pt x="275805" y="172123"/>
                  </a:moveTo>
                  <a:lnTo>
                    <a:pt x="273392" y="143103"/>
                  </a:lnTo>
                  <a:lnTo>
                    <a:pt x="267627" y="143649"/>
                  </a:lnTo>
                  <a:lnTo>
                    <a:pt x="260578" y="144500"/>
                  </a:lnTo>
                  <a:lnTo>
                    <a:pt x="252450" y="145630"/>
                  </a:lnTo>
                  <a:lnTo>
                    <a:pt x="243420" y="146977"/>
                  </a:lnTo>
                  <a:lnTo>
                    <a:pt x="248259" y="175501"/>
                  </a:lnTo>
                  <a:lnTo>
                    <a:pt x="256984" y="174218"/>
                  </a:lnTo>
                  <a:lnTo>
                    <a:pt x="264756" y="173266"/>
                  </a:lnTo>
                  <a:lnTo>
                    <a:pt x="275805" y="172123"/>
                  </a:lnTo>
                  <a:close/>
                </a:path>
                <a:path w="357504" h="377825">
                  <a:moveTo>
                    <a:pt x="277749" y="365506"/>
                  </a:moveTo>
                  <a:lnTo>
                    <a:pt x="270014" y="337464"/>
                  </a:lnTo>
                  <a:lnTo>
                    <a:pt x="263474" y="339102"/>
                  </a:lnTo>
                  <a:lnTo>
                    <a:pt x="256895" y="340487"/>
                  </a:lnTo>
                  <a:lnTo>
                    <a:pt x="250228" y="341668"/>
                  </a:lnTo>
                  <a:lnTo>
                    <a:pt x="243420" y="342773"/>
                  </a:lnTo>
                  <a:lnTo>
                    <a:pt x="247777" y="371297"/>
                  </a:lnTo>
                  <a:lnTo>
                    <a:pt x="255308" y="370116"/>
                  </a:lnTo>
                  <a:lnTo>
                    <a:pt x="262763" y="368769"/>
                  </a:lnTo>
                  <a:lnTo>
                    <a:pt x="270205" y="367220"/>
                  </a:lnTo>
                  <a:lnTo>
                    <a:pt x="277749" y="365506"/>
                  </a:lnTo>
                  <a:close/>
                </a:path>
                <a:path w="357504" h="377825">
                  <a:moveTo>
                    <a:pt x="295630" y="259143"/>
                  </a:moveTo>
                  <a:lnTo>
                    <a:pt x="288582" y="255689"/>
                  </a:lnTo>
                  <a:lnTo>
                    <a:pt x="281254" y="252615"/>
                  </a:lnTo>
                  <a:lnTo>
                    <a:pt x="273748" y="249897"/>
                  </a:lnTo>
                  <a:lnTo>
                    <a:pt x="266141" y="247535"/>
                  </a:lnTo>
                  <a:lnTo>
                    <a:pt x="257924" y="275094"/>
                  </a:lnTo>
                  <a:lnTo>
                    <a:pt x="264083" y="277088"/>
                  </a:lnTo>
                  <a:lnTo>
                    <a:pt x="270192" y="279387"/>
                  </a:lnTo>
                  <a:lnTo>
                    <a:pt x="276212" y="281965"/>
                  </a:lnTo>
                  <a:lnTo>
                    <a:pt x="282092" y="284759"/>
                  </a:lnTo>
                  <a:lnTo>
                    <a:pt x="295630" y="259143"/>
                  </a:lnTo>
                  <a:close/>
                </a:path>
                <a:path w="357504" h="377825">
                  <a:moveTo>
                    <a:pt x="327533" y="334073"/>
                  </a:moveTo>
                  <a:lnTo>
                    <a:pt x="301917" y="320052"/>
                  </a:lnTo>
                  <a:lnTo>
                    <a:pt x="298056" y="325374"/>
                  </a:lnTo>
                  <a:lnTo>
                    <a:pt x="292735" y="329717"/>
                  </a:lnTo>
                  <a:lnTo>
                    <a:pt x="286448" y="331647"/>
                  </a:lnTo>
                  <a:lnTo>
                    <a:pt x="298056" y="358241"/>
                  </a:lnTo>
                  <a:lnTo>
                    <a:pt x="306743" y="353987"/>
                  </a:lnTo>
                  <a:lnTo>
                    <a:pt x="314604" y="348513"/>
                  </a:lnTo>
                  <a:lnTo>
                    <a:pt x="321576" y="341858"/>
                  </a:lnTo>
                  <a:lnTo>
                    <a:pt x="327533" y="334073"/>
                  </a:lnTo>
                  <a:close/>
                </a:path>
                <a:path w="357504" h="377825">
                  <a:moveTo>
                    <a:pt x="330923" y="306997"/>
                  </a:moveTo>
                  <a:lnTo>
                    <a:pt x="329031" y="297497"/>
                  </a:lnTo>
                  <a:lnTo>
                    <a:pt x="325602" y="288632"/>
                  </a:lnTo>
                  <a:lnTo>
                    <a:pt x="320725" y="280479"/>
                  </a:lnTo>
                  <a:lnTo>
                    <a:pt x="314490" y="273164"/>
                  </a:lnTo>
                  <a:lnTo>
                    <a:pt x="294182" y="293471"/>
                  </a:lnTo>
                  <a:lnTo>
                    <a:pt x="298538" y="297815"/>
                  </a:lnTo>
                  <a:lnTo>
                    <a:pt x="301434" y="304101"/>
                  </a:lnTo>
                  <a:lnTo>
                    <a:pt x="302399" y="310388"/>
                  </a:lnTo>
                  <a:lnTo>
                    <a:pt x="330923" y="306997"/>
                  </a:lnTo>
                  <a:close/>
                </a:path>
                <a:path w="357504" h="377825">
                  <a:moveTo>
                    <a:pt x="357098" y="44246"/>
                  </a:moveTo>
                  <a:lnTo>
                    <a:pt x="331406" y="5803"/>
                  </a:lnTo>
                  <a:lnTo>
                    <a:pt x="329476" y="5067"/>
                  </a:lnTo>
                  <a:lnTo>
                    <a:pt x="329476" y="50279"/>
                  </a:lnTo>
                  <a:lnTo>
                    <a:pt x="327787" y="58508"/>
                  </a:lnTo>
                  <a:lnTo>
                    <a:pt x="323189" y="65278"/>
                  </a:lnTo>
                  <a:lnTo>
                    <a:pt x="316420" y="69862"/>
                  </a:lnTo>
                  <a:lnTo>
                    <a:pt x="308203" y="71564"/>
                  </a:lnTo>
                  <a:lnTo>
                    <a:pt x="299986" y="69862"/>
                  </a:lnTo>
                  <a:lnTo>
                    <a:pt x="293217" y="65278"/>
                  </a:lnTo>
                  <a:lnTo>
                    <a:pt x="288620" y="58508"/>
                  </a:lnTo>
                  <a:lnTo>
                    <a:pt x="286931" y="50279"/>
                  </a:lnTo>
                  <a:lnTo>
                    <a:pt x="288620" y="42062"/>
                  </a:lnTo>
                  <a:lnTo>
                    <a:pt x="293217" y="35306"/>
                  </a:lnTo>
                  <a:lnTo>
                    <a:pt x="299986" y="30708"/>
                  </a:lnTo>
                  <a:lnTo>
                    <a:pt x="308203" y="29019"/>
                  </a:lnTo>
                  <a:lnTo>
                    <a:pt x="316420" y="30708"/>
                  </a:lnTo>
                  <a:lnTo>
                    <a:pt x="323189" y="35306"/>
                  </a:lnTo>
                  <a:lnTo>
                    <a:pt x="327787" y="42062"/>
                  </a:lnTo>
                  <a:lnTo>
                    <a:pt x="329476" y="50279"/>
                  </a:lnTo>
                  <a:lnTo>
                    <a:pt x="329476" y="5067"/>
                  </a:lnTo>
                  <a:lnTo>
                    <a:pt x="320255" y="1498"/>
                  </a:lnTo>
                  <a:lnTo>
                    <a:pt x="308203" y="0"/>
                  </a:lnTo>
                  <a:lnTo>
                    <a:pt x="296138" y="1498"/>
                  </a:lnTo>
                  <a:lnTo>
                    <a:pt x="261581" y="32550"/>
                  </a:lnTo>
                  <a:lnTo>
                    <a:pt x="258826" y="44246"/>
                  </a:lnTo>
                  <a:lnTo>
                    <a:pt x="258889" y="56299"/>
                  </a:lnTo>
                  <a:lnTo>
                    <a:pt x="284518" y="117970"/>
                  </a:lnTo>
                  <a:lnTo>
                    <a:pt x="303847" y="159067"/>
                  </a:lnTo>
                  <a:lnTo>
                    <a:pt x="308203" y="162445"/>
                  </a:lnTo>
                  <a:lnTo>
                    <a:pt x="310134" y="160997"/>
                  </a:lnTo>
                  <a:lnTo>
                    <a:pt x="311111" y="160515"/>
                  </a:lnTo>
                  <a:lnTo>
                    <a:pt x="331419" y="117970"/>
                  </a:lnTo>
                  <a:lnTo>
                    <a:pt x="352590" y="71564"/>
                  </a:lnTo>
                  <a:lnTo>
                    <a:pt x="357035" y="56299"/>
                  </a:lnTo>
                  <a:lnTo>
                    <a:pt x="357098" y="44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595516" y="2473033"/>
            <a:ext cx="1868170" cy="15157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97180" marR="28956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 indent="8890">
              <a:lnSpc>
                <a:spcPts val="1410"/>
              </a:lnSpc>
              <a:spcBef>
                <a:spcPts val="1355"/>
              </a:spcBef>
            </a:pPr>
            <a:r>
              <a:rPr dirty="0" sz="1250" spc="45">
                <a:latin typeface="Times New Roman"/>
                <a:cs typeface="Times New Roman"/>
              </a:rPr>
              <a:t>DoNotPay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(USA),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Rocket </a:t>
            </a:r>
            <a:r>
              <a:rPr dirty="0" sz="1250">
                <a:latin typeface="Times New Roman"/>
                <a:cs typeface="Times New Roman"/>
              </a:rPr>
              <a:t>Lawyer</a:t>
            </a:r>
            <a:r>
              <a:rPr dirty="0" sz="1250" spc="3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(USA),</a:t>
            </a:r>
            <a:r>
              <a:rPr dirty="0" sz="1250" spc="38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LawDroid </a:t>
            </a:r>
            <a:r>
              <a:rPr dirty="0" sz="1250">
                <a:latin typeface="Times New Roman"/>
                <a:cs typeface="Times New Roman"/>
              </a:rPr>
              <a:t>(USA),</a:t>
            </a:r>
            <a:r>
              <a:rPr dirty="0" sz="1250" spc="31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Joshua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31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(UK)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45724" y="1541215"/>
            <a:ext cx="2165985" cy="3827145"/>
            <a:chOff x="7745724" y="1541215"/>
            <a:chExt cx="2165985" cy="3827145"/>
          </a:xfrm>
        </p:grpSpPr>
        <p:sp>
          <p:nvSpPr>
            <p:cNvPr id="21" name="object 21"/>
            <p:cNvSpPr/>
            <p:nvPr/>
          </p:nvSpPr>
          <p:spPr>
            <a:xfrm>
              <a:off x="7745724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2153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68421" y="1788027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66" y="328757"/>
                  </a:moveTo>
                  <a:lnTo>
                    <a:pt x="20844" y="328757"/>
                  </a:lnTo>
                  <a:lnTo>
                    <a:pt x="20844" y="299746"/>
                  </a:lnTo>
                  <a:lnTo>
                    <a:pt x="291498" y="299746"/>
                  </a:lnTo>
                  <a:lnTo>
                    <a:pt x="291498" y="29011"/>
                  </a:lnTo>
                  <a:lnTo>
                    <a:pt x="20844" y="29011"/>
                  </a:lnTo>
                  <a:lnTo>
                    <a:pt x="20844" y="0"/>
                  </a:lnTo>
                  <a:lnTo>
                    <a:pt x="320566" y="0"/>
                  </a:lnTo>
                  <a:lnTo>
                    <a:pt x="320566" y="328757"/>
                  </a:lnTo>
                  <a:close/>
                </a:path>
                <a:path w="320675" h="328930">
                  <a:moveTo>
                    <a:pt x="49831" y="299746"/>
                  </a:moveTo>
                  <a:lnTo>
                    <a:pt x="6269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69" y="270734"/>
                  </a:lnTo>
                  <a:lnTo>
                    <a:pt x="20844" y="270734"/>
                  </a:lnTo>
                  <a:lnTo>
                    <a:pt x="20844" y="251404"/>
                  </a:lnTo>
                  <a:lnTo>
                    <a:pt x="6269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69" y="222393"/>
                  </a:lnTo>
                  <a:lnTo>
                    <a:pt x="20844" y="222393"/>
                  </a:lnTo>
                  <a:lnTo>
                    <a:pt x="20844" y="203055"/>
                  </a:lnTo>
                  <a:lnTo>
                    <a:pt x="6269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69" y="174051"/>
                  </a:lnTo>
                  <a:lnTo>
                    <a:pt x="20844" y="174051"/>
                  </a:lnTo>
                  <a:lnTo>
                    <a:pt x="20844" y="154705"/>
                  </a:lnTo>
                  <a:lnTo>
                    <a:pt x="6269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69" y="125702"/>
                  </a:lnTo>
                  <a:lnTo>
                    <a:pt x="20844" y="125702"/>
                  </a:lnTo>
                  <a:lnTo>
                    <a:pt x="20844" y="106364"/>
                  </a:lnTo>
                  <a:lnTo>
                    <a:pt x="6269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69" y="77352"/>
                  </a:lnTo>
                  <a:lnTo>
                    <a:pt x="20844" y="77352"/>
                  </a:lnTo>
                  <a:lnTo>
                    <a:pt x="20844" y="58022"/>
                  </a:lnTo>
                  <a:lnTo>
                    <a:pt x="14493" y="58022"/>
                  </a:lnTo>
                  <a:lnTo>
                    <a:pt x="6758" y="57534"/>
                  </a:lnTo>
                  <a:lnTo>
                    <a:pt x="977" y="51248"/>
                  </a:lnTo>
                  <a:lnTo>
                    <a:pt x="1466" y="43513"/>
                  </a:lnTo>
                  <a:lnTo>
                    <a:pt x="1466" y="35777"/>
                  </a:lnTo>
                  <a:lnTo>
                    <a:pt x="6758" y="29491"/>
                  </a:lnTo>
                  <a:lnTo>
                    <a:pt x="14493" y="29011"/>
                  </a:lnTo>
                  <a:lnTo>
                    <a:pt x="49831" y="29011"/>
                  </a:lnTo>
                  <a:lnTo>
                    <a:pt x="49831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6262" y="1845081"/>
              <a:ext cx="185647" cy="2146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06177" y="2473033"/>
            <a:ext cx="1839595" cy="15157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83210" marR="27559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1355"/>
              </a:spcBef>
            </a:pPr>
            <a:r>
              <a:rPr dirty="0" sz="1250">
                <a:latin typeface="Times New Roman"/>
                <a:cs typeface="Times New Roman"/>
              </a:rPr>
              <a:t>Google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Search,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ChatGPT, </a:t>
            </a:r>
            <a:r>
              <a:rPr dirty="0" sz="1250">
                <a:latin typeface="Times New Roman"/>
                <a:cs typeface="Times New Roman"/>
              </a:rPr>
              <a:t>Wikipedia</a:t>
            </a:r>
            <a:r>
              <a:rPr dirty="0" sz="1250" spc="3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legal</a:t>
            </a:r>
            <a:r>
              <a:rPr dirty="0" sz="1250" spc="39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pages, </a:t>
            </a:r>
            <a:r>
              <a:rPr dirty="0" sz="1250" spc="10">
                <a:latin typeface="Times New Roman"/>
                <a:cs typeface="Times New Roman"/>
              </a:rPr>
              <a:t>LegalZoom</a:t>
            </a:r>
            <a:r>
              <a:rPr dirty="0" sz="1250" spc="44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(USA)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8424"/>
            <a:ext cx="2256155" cy="416559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550"/>
              <a:t>Macro</a:t>
            </a:r>
            <a:r>
              <a:rPr dirty="0" sz="2550" spc="65"/>
              <a:t> </a:t>
            </a:r>
            <a:r>
              <a:rPr dirty="0" sz="2550" spc="-10"/>
              <a:t>Analysis</a:t>
            </a:r>
            <a:endParaRPr sz="2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4275" y="1357525"/>
            <a:ext cx="169672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2625" y="1740704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0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advancements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enable</a:t>
                      </a:r>
                      <a:r>
                        <a:rPr dirty="0" sz="10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cheaper,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multilingual</a:t>
                      </a:r>
                      <a:r>
                        <a:rPr dirty="0" sz="10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voice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regional</a:t>
                      </a:r>
                      <a:r>
                        <a:rPr dirty="0" sz="10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language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Social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20">
                          <a:latin typeface="Times New Roman"/>
                          <a:cs typeface="Times New Roman"/>
                        </a:rPr>
                        <a:t>Rising</a:t>
                      </a:r>
                      <a:r>
                        <a:rPr dirty="0" sz="10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smartphone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adoption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dirty="0" sz="10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India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increasing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demand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affordable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legal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services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4275" y="2937150"/>
            <a:ext cx="190373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Unfavourable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2625" y="3320329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Legal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privacy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laws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restrict</a:t>
                      </a:r>
                      <a:r>
                        <a:rPr dirty="0" sz="10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legal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advisory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services</a:t>
                      </a:r>
                      <a:r>
                        <a:rPr dirty="0" sz="10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India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2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connectivity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areas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limits</a:t>
                      </a:r>
                      <a:r>
                        <a:rPr dirty="0" sz="10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adoption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96696" y="4423624"/>
            <a:ext cx="9575800" cy="11074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</a:pP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r>
              <a:rPr dirty="0" sz="1250" spc="27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F16629"/>
                </a:solidFill>
                <a:latin typeface="Times New Roman"/>
                <a:cs typeface="Times New Roman"/>
              </a:rPr>
              <a:t>Sources:</a:t>
            </a: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  <a:spcBef>
                <a:spcPts val="930"/>
              </a:spcBef>
            </a:pPr>
            <a:r>
              <a:rPr dirty="0" sz="1000">
                <a:latin typeface="Times New Roman"/>
                <a:cs typeface="Times New Roman"/>
              </a:rPr>
              <a:t>TRAI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Report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2023,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NALSA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Report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2022,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World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Justice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Project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2023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96" y="1182949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6696" y="1964620"/>
          <a:ext cx="9652000" cy="1529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8875"/>
                <a:gridCol w="2734945"/>
                <a:gridCol w="2049145"/>
                <a:gridCol w="2361565"/>
              </a:tblGrid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7164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0306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0306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Revenues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0953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500000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1500000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3500000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250" spc="1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10" b="1">
                          <a:latin typeface="Arial"/>
                          <a:cs typeface="Arial"/>
                        </a:rPr>
                        <a:t>Expenses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10953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1200000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1800000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2500000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Profit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0953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50" spc="-10">
                          <a:latin typeface="Arial"/>
                          <a:cs typeface="Arial"/>
                        </a:rPr>
                        <a:t>700000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50" spc="-10">
                          <a:latin typeface="Arial"/>
                          <a:cs typeface="Arial"/>
                        </a:rPr>
                        <a:t>300000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1000000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3997" y="583996"/>
            <a:ext cx="7242809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Back-of-the-Envelope</a:t>
            </a:r>
            <a:r>
              <a:rPr dirty="0" spc="26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Financial</a:t>
            </a:r>
            <a:r>
              <a:rPr dirty="0" spc="27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Projections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12981"/>
            <a:ext cx="814240" cy="4234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3997" y="1276101"/>
            <a:ext cx="3127375" cy="5302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250" b="1">
                <a:latin typeface="Arial"/>
                <a:cs typeface="Arial"/>
              </a:rPr>
              <a:t>Currency:</a:t>
            </a:r>
            <a:r>
              <a:rPr dirty="0" sz="1250" spc="300" b="1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Indian</a:t>
            </a:r>
            <a:r>
              <a:rPr dirty="0" sz="1250" spc="30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Rupee</a:t>
            </a:r>
            <a:r>
              <a:rPr dirty="0" sz="1250" spc="305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(INR)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250" b="1">
                <a:latin typeface="Arial"/>
                <a:cs typeface="Arial"/>
              </a:rPr>
              <a:t>Chosen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Business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Model:</a:t>
            </a:r>
            <a:r>
              <a:rPr dirty="0" sz="1250" spc="320" b="1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Subscriptions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0281" y="2082198"/>
            <a:ext cx="4187825" cy="1002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400">
                <a:solidFill>
                  <a:srgbClr val="BF0000"/>
                </a:solidFill>
              </a:rPr>
              <a:t>Thank</a:t>
            </a:r>
            <a:r>
              <a:rPr dirty="0" sz="6400" spc="10">
                <a:solidFill>
                  <a:srgbClr val="BF0000"/>
                </a:solidFill>
              </a:rPr>
              <a:t> </a:t>
            </a:r>
            <a:r>
              <a:rPr dirty="0" sz="6400" spc="-650">
                <a:solidFill>
                  <a:srgbClr val="BF0000"/>
                </a:solidFill>
              </a:rPr>
              <a:t>Y</a:t>
            </a:r>
            <a:r>
              <a:rPr dirty="0" sz="6400" spc="60">
                <a:solidFill>
                  <a:srgbClr val="BF0000"/>
                </a:solidFill>
              </a:rPr>
              <a:t>ou</a:t>
            </a:r>
            <a:r>
              <a:rPr dirty="0" sz="6400" spc="20">
                <a:solidFill>
                  <a:srgbClr val="BF0000"/>
                </a:solidFill>
              </a:rPr>
              <a:t>!</a:t>
            </a:r>
            <a:endParaRPr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2026-03-16T18:11:23Z</dcterms:created>
  <dcterms:modified xsi:type="dcterms:W3CDTF">2026-03-16T18:11:23Z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2026-03-16T00:00:00Z</vt:filetime>
  </property>
  <property fmtid="{D5CDD505-2E9C-101B-9397-08002B2CF9AE}" pid="5" name="Producer">
    <vt:lpwstr>pdf-merger-js</vt:lpwstr>
  </property>
</Properties>
</file>